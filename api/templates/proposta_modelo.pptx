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25"/>
    <p:sldId id="261" r:id="rId7"/>
  </p:sldIdLst>
  <p:sldSz cx="18288000" cy="10287000"/>
  <p:notesSz cx="6858000" cy="9144000"/>
  <p:embeddedFontLst>
    <p:embeddedFont>
      <p:font typeface="Anton" pitchFamily="2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dec Pro" panose="020B0604020202020204" charset="0"/>
      <p:regular r:id="rId13"/>
    </p:embeddedFont>
    <p:embeddedFont>
      <p:font typeface="Codec Pro Bold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boldItalic r:id="rId17"/>
    </p:embeddedFont>
    <p:embeddedFont>
      <p:font typeface="Poppins Bold" panose="00000800000000000000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44" autoAdjust="0"/>
    <p:restoredTop sz="94622" autoAdjust="0"/>
  </p:normalViewPr>
  <p:slideViewPr>
    <p:cSldViewPr>
      <p:cViewPr varScale="1">
        <p:scale>
          <a:sx n="42" d="100"/>
          <a:sy n="42" d="100"/>
        </p:scale>
        <p:origin x="51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" userId="f9ce21700393ff5f" providerId="LiveId" clId="{CAA3956D-3AE9-45E1-AD50-8BA42567BD74}"/>
    <pc:docChg chg="delSld">
      <pc:chgData name="bruno augusto" userId="f9ce21700393ff5f" providerId="LiveId" clId="{CAA3956D-3AE9-45E1-AD50-8BA42567BD74}" dt="2026-08-31T14:34:26.034" v="0" actId="47"/>
      <pc:docMkLst>
        <pc:docMk/>
      </pc:docMkLst>
      <pc:sldChg chg="del">
        <pc:chgData name="bruno augusto" userId="f9ce21700393ff5f" providerId="LiveId" clId="{CAA3956D-3AE9-45E1-AD50-8BA42567BD74}" dt="2026-08-31T14:34:26.034" v="0" actId="47"/>
        <pc:sldMkLst>
          <pc:docMk/>
          <pc:sldMk cId="4231238738" sldId="263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png"/><Relationship Id="rId10" Type="http://schemas.openxmlformats.org/officeDocument/2006/relationships/image" Target="../media/image19.sv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image" Target="../media/image22.png"/><Relationship Id="rId14" Type="http://schemas.openxmlformats.org/officeDocument/2006/relationships/image" Target="../media/image23.svg"/><Relationship Id="rId15" Type="http://schemas.openxmlformats.org/officeDocument/2006/relationships/image" Target="../media/image24.png"/><Relationship Id="rId16" Type="http://schemas.openxmlformats.org/officeDocument/2006/relationships/image" Target="../media/image25.svg"/><Relationship Id="rId17" Type="http://schemas.openxmlformats.org/officeDocument/2006/relationships/image" Target="../media/image26.png"/><Relationship Id="rId18" Type="http://schemas.openxmlformats.org/officeDocument/2006/relationships/image" Target="../media/image27.svg"/><Relationship Id="rId19" Type="http://schemas.openxmlformats.org/officeDocument/2006/relationships/image" Target="../media/image28.png"/><Relationship Id="rId20" Type="http://schemas.openxmlformats.org/officeDocument/2006/relationships/image" Target="../media/image29.svg"/><Relationship Id="rId21" Type="http://schemas.openxmlformats.org/officeDocument/2006/relationships/image" Target="../media/image30.png"/><Relationship Id="rId22" Type="http://schemas.openxmlformats.org/officeDocument/2006/relationships/image" Target="../media/image3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32.png"/><Relationship Id="rId4" Type="http://schemas.openxmlformats.org/officeDocument/2006/relationships/image" Target="../media/image33.svg"/><Relationship Id="rId5" Type="http://schemas.openxmlformats.org/officeDocument/2006/relationships/image" Target="../media/image34.png"/><Relationship Id="rId6" Type="http://schemas.openxmlformats.org/officeDocument/2006/relationships/image" Target="../media/image35.svg"/><Relationship Id="rId7" Type="http://schemas.openxmlformats.org/officeDocument/2006/relationships/image" Target="../media/image36.png"/><Relationship Id="rId8" Type="http://schemas.openxmlformats.org/officeDocument/2006/relationships/image" Target="../media/image37.svg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6.png"/><Relationship Id="rId12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svg"/><Relationship Id="rId5" Type="http://schemas.openxmlformats.org/officeDocument/2006/relationships/image" Target="../media/image43.png"/><Relationship Id="rId6" Type="http://schemas.openxmlformats.org/officeDocument/2006/relationships/image" Target="../media/image44.svg"/><Relationship Id="rId7" Type="http://schemas.openxmlformats.org/officeDocument/2006/relationships/image" Target="../media/image45.png"/><Relationship Id="rId8" Type="http://schemas.openxmlformats.org/officeDocument/2006/relationships/image" Target="../media/image46.svg"/><Relationship Id="rId9" Type="http://schemas.openxmlformats.org/officeDocument/2006/relationships/image" Target="../media/image47.png"/><Relationship Id="rId10" Type="http://schemas.openxmlformats.org/officeDocument/2006/relationships/image" Target="../media/image48.svg"/><Relationship Id="rId11" Type="http://schemas.openxmlformats.org/officeDocument/2006/relationships/image" Target="../media/image49.png"/><Relationship Id="rId12" Type="http://schemas.openxmlformats.org/officeDocument/2006/relationships/image" Target="../media/image50.svg"/><Relationship Id="rId13" Type="http://schemas.openxmlformats.org/officeDocument/2006/relationships/image" Target="../media/image51.png"/><Relationship Id="rId14" Type="http://schemas.openxmlformats.org/officeDocument/2006/relationships/image" Target="../media/image52.svg"/><Relationship Id="rId15" Type="http://schemas.openxmlformats.org/officeDocument/2006/relationships/image" Target="../media/image53.png"/><Relationship Id="rId16" Type="http://schemas.openxmlformats.org/officeDocument/2006/relationships/image" Target="../media/image54.svg"/><Relationship Id="rId17" Type="http://schemas.openxmlformats.org/officeDocument/2006/relationships/image" Target="../media/image55.png"/><Relationship Id="rId18" Type="http://schemas.openxmlformats.org/officeDocument/2006/relationships/image" Target="../media/image56.svg"/><Relationship Id="rId19" Type="http://schemas.openxmlformats.org/officeDocument/2006/relationships/image" Target="../media/image57.png"/><Relationship Id="rId20" Type="http://schemas.openxmlformats.org/officeDocument/2006/relationships/image" Target="../media/image58.svg"/><Relationship Id="rId21" Type="http://schemas.openxmlformats.org/officeDocument/2006/relationships/image" Target="../media/image59.png"/><Relationship Id="rId22" Type="http://schemas.openxmlformats.org/officeDocument/2006/relationships/image" Target="../media/image60.svg"/><Relationship Id="rId23" Type="http://schemas.openxmlformats.org/officeDocument/2006/relationships/image" Target="../media/image6.png"/><Relationship Id="rId24" Type="http://schemas.openxmlformats.org/officeDocument/2006/relationships/image" Target="../media/image7.svg"/><Relationship Id="rId25" Type="http://schemas.openxmlformats.org/officeDocument/2006/relationships/image" Target="../media/image61.png"/><Relationship Id="rId26" Type="http://schemas.openxmlformats.org/officeDocument/2006/relationships/hyperlink" Target="https://www.instagram.com/controllermedsegcomercial/" TargetMode="External"/><Relationship Id="rId27" Type="http://schemas.openxmlformats.org/officeDocument/2006/relationships/image" Target="../media/image62.png"/><Relationship Id="rId28" Type="http://schemas.openxmlformats.org/officeDocument/2006/relationships/image" Target="../media/image63.png"/><Relationship Id="rId29" Type="http://schemas.openxmlformats.org/officeDocument/2006/relationships/image" Target="../media/image64.svg"/><Relationship Id="rId30" Type="http://schemas.openxmlformats.org/officeDocument/2006/relationships/image" Target="../media/image6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7672" y="0"/>
            <a:ext cx="5440024" cy="10645737"/>
          </a:xfrm>
          <a:custGeom>
            <a:avLst/>
            <a:gdLst/>
            <a:ahLst/>
            <a:cxnLst/>
            <a:rect l="l" t="t" r="r" b="b"/>
            <a:pathLst>
              <a:path w="5440024" h="10645737">
                <a:moveTo>
                  <a:pt x="0" y="0"/>
                </a:moveTo>
                <a:lnTo>
                  <a:pt x="5440024" y="0"/>
                </a:lnTo>
                <a:lnTo>
                  <a:pt x="5440024" y="10645737"/>
                </a:lnTo>
                <a:lnTo>
                  <a:pt x="0" y="1064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32" r="-275958" b="-1832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0831" y="-167001"/>
            <a:ext cx="20442988" cy="14530398"/>
          </a:xfrm>
          <a:custGeom>
            <a:avLst/>
            <a:gdLst/>
            <a:ahLst/>
            <a:cxnLst/>
            <a:rect l="l" t="t" r="r" b="b"/>
            <a:pathLst>
              <a:path w="20442988" h="14530398">
                <a:moveTo>
                  <a:pt x="0" y="0"/>
                </a:moveTo>
                <a:lnTo>
                  <a:pt x="20442988" y="0"/>
                </a:lnTo>
                <a:lnTo>
                  <a:pt x="20442988" y="14530397"/>
                </a:lnTo>
                <a:lnTo>
                  <a:pt x="0" y="14530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6" r="-12726" b="-710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32914" y="-167001"/>
            <a:ext cx="19991561" cy="10454001"/>
            <a:chOff x="0" y="0"/>
            <a:chExt cx="5265267" cy="2753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65267" cy="2753317"/>
            </a:xfrm>
            <a:custGeom>
              <a:avLst/>
              <a:gdLst/>
              <a:ahLst/>
              <a:cxnLst/>
              <a:rect l="l" t="t" r="r" b="b"/>
              <a:pathLst>
                <a:path w="5265267" h="2753317">
                  <a:moveTo>
                    <a:pt x="0" y="0"/>
                  </a:moveTo>
                  <a:lnTo>
                    <a:pt x="5265267" y="0"/>
                  </a:lnTo>
                  <a:lnTo>
                    <a:pt x="5265267" y="2753317"/>
                  </a:lnTo>
                  <a:lnTo>
                    <a:pt x="0" y="275331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2D2D2D">
                    <a:alpha val="20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265267" cy="282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32914" y="-167001"/>
            <a:ext cx="21006733" cy="10604107"/>
            <a:chOff x="0" y="0"/>
            <a:chExt cx="5532637" cy="27928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32637" cy="2792851"/>
            </a:xfrm>
            <a:custGeom>
              <a:avLst/>
              <a:gdLst/>
              <a:ahLst/>
              <a:cxnLst/>
              <a:rect l="l" t="t" r="r" b="b"/>
              <a:pathLst>
                <a:path w="5532637" h="2792851">
                  <a:moveTo>
                    <a:pt x="0" y="0"/>
                  </a:moveTo>
                  <a:lnTo>
                    <a:pt x="5532637" y="0"/>
                  </a:lnTo>
                  <a:lnTo>
                    <a:pt x="5532637" y="2792851"/>
                  </a:lnTo>
                  <a:lnTo>
                    <a:pt x="0" y="279285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37500"/>
                  </a:srgbClr>
                </a:gs>
                <a:gs pos="100000">
                  <a:srgbClr val="2D2D2D">
                    <a:alpha val="205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5532637" cy="2869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30831" y="2524489"/>
            <a:ext cx="9686539" cy="1723878"/>
          </a:xfrm>
          <a:custGeom>
            <a:avLst/>
            <a:gdLst/>
            <a:ahLst/>
            <a:cxnLst/>
            <a:rect l="l" t="t" r="r" b="b"/>
            <a:pathLst>
              <a:path w="9686539" h="1723878">
                <a:moveTo>
                  <a:pt x="0" y="0"/>
                </a:moveTo>
                <a:lnTo>
                  <a:pt x="9686539" y="0"/>
                </a:lnTo>
                <a:lnTo>
                  <a:pt x="9686539" y="1723878"/>
                </a:lnTo>
                <a:lnTo>
                  <a:pt x="0" y="172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6089" b="-20898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88461" y="4667467"/>
            <a:ext cx="6223661" cy="212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3"/>
              </a:lnSpc>
              <a:spcBef>
                <a:spcPct val="0"/>
              </a:spcBef>
            </a:pPr>
            <a:r>
              <a:rPr lang="en-US" sz="39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Sua </a:t>
            </a:r>
            <a:r>
              <a:rPr lang="en-US" sz="3974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empresa</a:t>
            </a:r>
            <a:r>
              <a:rPr lang="en-US" sz="39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974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protegida</a:t>
            </a:r>
            <a:r>
              <a:rPr lang="en-US" sz="39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para </a:t>
            </a:r>
            <a:r>
              <a:rPr lang="en-US" sz="3974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crescer</a:t>
            </a:r>
            <a:r>
              <a:rPr lang="en-US" sz="39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com </a:t>
            </a:r>
            <a:r>
              <a:rPr lang="en-US" sz="3974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segurança</a:t>
            </a:r>
            <a:r>
              <a:rPr lang="en-US" sz="39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2" name="Freeform 12"/>
          <p:cNvSpPr/>
          <p:nvPr/>
        </p:nvSpPr>
        <p:spPr>
          <a:xfrm>
            <a:off x="-7859024" y="6493643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3185095">
            <a:off x="4091791" y="4775280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637591" y="-309417"/>
            <a:ext cx="10929640" cy="10746524"/>
          </a:xfrm>
          <a:custGeom>
            <a:avLst/>
            <a:gdLst/>
            <a:ahLst/>
            <a:cxnLst/>
            <a:rect l="l" t="t" r="r" b="b"/>
            <a:pathLst>
              <a:path w="10929640" h="10746524">
                <a:moveTo>
                  <a:pt x="0" y="0"/>
                </a:moveTo>
                <a:lnTo>
                  <a:pt x="10929640" y="0"/>
                </a:lnTo>
                <a:lnTo>
                  <a:pt x="10929640" y="10746523"/>
                </a:lnTo>
                <a:lnTo>
                  <a:pt x="0" y="10746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360" r="-43077" b="-44810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568133" y="9749598"/>
            <a:ext cx="1626019" cy="289377"/>
          </a:xfrm>
          <a:custGeom>
            <a:avLst/>
            <a:gdLst/>
            <a:ahLst/>
            <a:cxnLst/>
            <a:rect l="l" t="t" r="r" b="b"/>
            <a:pathLst>
              <a:path w="1626019" h="289377">
                <a:moveTo>
                  <a:pt x="0" y="0"/>
                </a:moveTo>
                <a:lnTo>
                  <a:pt x="1626019" y="0"/>
                </a:lnTo>
                <a:lnTo>
                  <a:pt x="1626019" y="289376"/>
                </a:lnTo>
                <a:lnTo>
                  <a:pt x="0" y="289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6089" b="-20898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88461" y="7250920"/>
            <a:ext cx="5669485" cy="103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1"/>
              </a:lnSpc>
              <a:spcBef>
                <a:spcPct val="0"/>
              </a:spcBef>
            </a:pPr>
            <a:r>
              <a:rPr lang="en-US" sz="290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Sua </a:t>
            </a:r>
            <a:r>
              <a:rPr lang="en-US" sz="290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parceira</a:t>
            </a:r>
            <a:r>
              <a:rPr lang="en-US" sz="290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0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90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Medicina e </a:t>
            </a:r>
            <a:r>
              <a:rPr lang="en-US" sz="290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  <a:r>
              <a:rPr lang="en-US" sz="290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90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Trabalho</a:t>
            </a:r>
            <a:r>
              <a:rPr lang="en-US" sz="290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7" name="Freeform 17"/>
          <p:cNvSpPr/>
          <p:nvPr/>
        </p:nvSpPr>
        <p:spPr>
          <a:xfrm rot="2004292">
            <a:off x="-8126975" y="6201120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9991" y="-94249"/>
            <a:ext cx="18917493" cy="10965250"/>
          </a:xfrm>
          <a:custGeom>
            <a:avLst/>
            <a:gdLst/>
            <a:ahLst/>
            <a:cxnLst/>
            <a:rect l="l" t="t" r="r" b="b"/>
            <a:pathLst>
              <a:path w="18917493" h="10965250">
                <a:moveTo>
                  <a:pt x="0" y="0"/>
                </a:moveTo>
                <a:lnTo>
                  <a:pt x="18917494" y="0"/>
                </a:lnTo>
                <a:lnTo>
                  <a:pt x="18917494" y="10965251"/>
                </a:lnTo>
                <a:lnTo>
                  <a:pt x="0" y="1096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t="-7794" b="-779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9991" y="-478616"/>
            <a:ext cx="18950926" cy="11036493"/>
            <a:chOff x="0" y="0"/>
            <a:chExt cx="4991191" cy="29067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91191" cy="2906731"/>
            </a:xfrm>
            <a:custGeom>
              <a:avLst/>
              <a:gdLst/>
              <a:ahLst/>
              <a:cxnLst/>
              <a:rect l="l" t="t" r="r" b="b"/>
              <a:pathLst>
                <a:path w="4991191" h="2906731">
                  <a:moveTo>
                    <a:pt x="20835" y="0"/>
                  </a:moveTo>
                  <a:lnTo>
                    <a:pt x="4970356" y="0"/>
                  </a:lnTo>
                  <a:cubicBezTo>
                    <a:pt x="4981863" y="0"/>
                    <a:pt x="4991191" y="9328"/>
                    <a:pt x="4991191" y="20835"/>
                  </a:cubicBezTo>
                  <a:lnTo>
                    <a:pt x="4991191" y="2885896"/>
                  </a:lnTo>
                  <a:cubicBezTo>
                    <a:pt x="4991191" y="2891422"/>
                    <a:pt x="4988995" y="2896721"/>
                    <a:pt x="4985088" y="2900628"/>
                  </a:cubicBezTo>
                  <a:cubicBezTo>
                    <a:pt x="4981181" y="2904536"/>
                    <a:pt x="4975882" y="2906731"/>
                    <a:pt x="4970356" y="2906731"/>
                  </a:cubicBezTo>
                  <a:lnTo>
                    <a:pt x="20835" y="2906731"/>
                  </a:lnTo>
                  <a:cubicBezTo>
                    <a:pt x="15309" y="2906731"/>
                    <a:pt x="10010" y="2904536"/>
                    <a:pt x="6102" y="2900628"/>
                  </a:cubicBezTo>
                  <a:cubicBezTo>
                    <a:pt x="2195" y="2896721"/>
                    <a:pt x="0" y="2891422"/>
                    <a:pt x="0" y="2885896"/>
                  </a:cubicBezTo>
                  <a:lnTo>
                    <a:pt x="0" y="20835"/>
                  </a:lnTo>
                  <a:cubicBezTo>
                    <a:pt x="0" y="15309"/>
                    <a:pt x="2195" y="10010"/>
                    <a:pt x="6102" y="6102"/>
                  </a:cubicBezTo>
                  <a:cubicBezTo>
                    <a:pt x="10010" y="2195"/>
                    <a:pt x="15309" y="0"/>
                    <a:pt x="208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2D2D2D">
                    <a:alpha val="205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991191" cy="2982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8807772" y="6493643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80724" y="4351383"/>
            <a:ext cx="514024" cy="62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4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Freeform 8"/>
          <p:cNvSpPr/>
          <p:nvPr/>
        </p:nvSpPr>
        <p:spPr>
          <a:xfrm rot="2004292">
            <a:off x="-8095974" y="6667952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118181" flipH="1">
            <a:off x="3999894" y="4419045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18311350" y="0"/>
                </a:moveTo>
                <a:lnTo>
                  <a:pt x="0" y="0"/>
                </a:lnTo>
                <a:lnTo>
                  <a:pt x="0" y="3021373"/>
                </a:lnTo>
                <a:lnTo>
                  <a:pt x="18311350" y="3021373"/>
                </a:lnTo>
                <a:lnTo>
                  <a:pt x="183113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9448853" y="5663362"/>
            <a:ext cx="41391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9837586" y="7027347"/>
            <a:ext cx="7898685" cy="2367500"/>
            <a:chOff x="0" y="0"/>
            <a:chExt cx="1324971" cy="3971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4971" cy="397138"/>
            </a:xfrm>
            <a:custGeom>
              <a:avLst/>
              <a:gdLst/>
              <a:ahLst/>
              <a:cxnLst/>
              <a:rect l="l" t="t" r="r" b="b"/>
              <a:pathLst>
                <a:path w="1324971" h="397138">
                  <a:moveTo>
                    <a:pt x="49988" y="0"/>
                  </a:moveTo>
                  <a:lnTo>
                    <a:pt x="1274983" y="0"/>
                  </a:lnTo>
                  <a:cubicBezTo>
                    <a:pt x="1288241" y="0"/>
                    <a:pt x="1300956" y="5267"/>
                    <a:pt x="1310330" y="14641"/>
                  </a:cubicBezTo>
                  <a:cubicBezTo>
                    <a:pt x="1319705" y="24016"/>
                    <a:pt x="1324971" y="36730"/>
                    <a:pt x="1324971" y="49988"/>
                  </a:cubicBezTo>
                  <a:lnTo>
                    <a:pt x="1324971" y="347150"/>
                  </a:lnTo>
                  <a:cubicBezTo>
                    <a:pt x="1324971" y="374758"/>
                    <a:pt x="1302591" y="397138"/>
                    <a:pt x="1274983" y="397138"/>
                  </a:cubicBezTo>
                  <a:lnTo>
                    <a:pt x="49988" y="397138"/>
                  </a:lnTo>
                  <a:cubicBezTo>
                    <a:pt x="22380" y="397138"/>
                    <a:pt x="0" y="374758"/>
                    <a:pt x="0" y="347150"/>
                  </a:cubicBezTo>
                  <a:lnTo>
                    <a:pt x="0" y="49988"/>
                  </a:lnTo>
                  <a:cubicBezTo>
                    <a:pt x="0" y="22380"/>
                    <a:pt x="22380" y="0"/>
                    <a:pt x="49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324971" cy="473338"/>
            </a:xfrm>
            <a:prstGeom prst="rect">
              <a:avLst/>
            </a:prstGeom>
          </p:spPr>
          <p:txBody>
            <a:bodyPr lIns="79760" tIns="79760" rIns="79760" bIns="7976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653272" y="7609426"/>
            <a:ext cx="1458597" cy="1203343"/>
          </a:xfrm>
          <a:custGeom>
            <a:avLst/>
            <a:gdLst/>
            <a:ahLst/>
            <a:cxnLst/>
            <a:rect l="l" t="t" r="r" b="b"/>
            <a:pathLst>
              <a:path w="1458597" h="1203343">
                <a:moveTo>
                  <a:pt x="0" y="0"/>
                </a:moveTo>
                <a:lnTo>
                  <a:pt x="1458597" y="0"/>
                </a:lnTo>
                <a:lnTo>
                  <a:pt x="1458597" y="1203342"/>
                </a:lnTo>
                <a:lnTo>
                  <a:pt x="0" y="1203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37586" y="4364572"/>
            <a:ext cx="7898685" cy="2367500"/>
            <a:chOff x="0" y="0"/>
            <a:chExt cx="1324971" cy="3971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4971" cy="397138"/>
            </a:xfrm>
            <a:custGeom>
              <a:avLst/>
              <a:gdLst/>
              <a:ahLst/>
              <a:cxnLst/>
              <a:rect l="l" t="t" r="r" b="b"/>
              <a:pathLst>
                <a:path w="1324971" h="397138">
                  <a:moveTo>
                    <a:pt x="49988" y="0"/>
                  </a:moveTo>
                  <a:lnTo>
                    <a:pt x="1274983" y="0"/>
                  </a:lnTo>
                  <a:cubicBezTo>
                    <a:pt x="1288241" y="0"/>
                    <a:pt x="1300956" y="5267"/>
                    <a:pt x="1310330" y="14641"/>
                  </a:cubicBezTo>
                  <a:cubicBezTo>
                    <a:pt x="1319705" y="24016"/>
                    <a:pt x="1324971" y="36730"/>
                    <a:pt x="1324971" y="49988"/>
                  </a:cubicBezTo>
                  <a:lnTo>
                    <a:pt x="1324971" y="347150"/>
                  </a:lnTo>
                  <a:cubicBezTo>
                    <a:pt x="1324971" y="374758"/>
                    <a:pt x="1302591" y="397138"/>
                    <a:pt x="1274983" y="397138"/>
                  </a:cubicBezTo>
                  <a:lnTo>
                    <a:pt x="49988" y="397138"/>
                  </a:lnTo>
                  <a:cubicBezTo>
                    <a:pt x="22380" y="397138"/>
                    <a:pt x="0" y="374758"/>
                    <a:pt x="0" y="347150"/>
                  </a:cubicBezTo>
                  <a:lnTo>
                    <a:pt x="0" y="49988"/>
                  </a:lnTo>
                  <a:cubicBezTo>
                    <a:pt x="0" y="22380"/>
                    <a:pt x="22380" y="0"/>
                    <a:pt x="49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324971" cy="473338"/>
            </a:xfrm>
            <a:prstGeom prst="rect">
              <a:avLst/>
            </a:prstGeom>
          </p:spPr>
          <p:txBody>
            <a:bodyPr lIns="79760" tIns="79760" rIns="79760" bIns="7976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1941159" y="4835682"/>
            <a:ext cx="1361143" cy="1425280"/>
          </a:xfrm>
          <a:custGeom>
            <a:avLst/>
            <a:gdLst/>
            <a:ahLst/>
            <a:cxnLst/>
            <a:rect l="l" t="t" r="r" b="b"/>
            <a:pathLst>
              <a:path w="1361143" h="1425280">
                <a:moveTo>
                  <a:pt x="0" y="0"/>
                </a:moveTo>
                <a:lnTo>
                  <a:pt x="1361143" y="0"/>
                </a:lnTo>
                <a:lnTo>
                  <a:pt x="1361143" y="1425280"/>
                </a:lnTo>
                <a:lnTo>
                  <a:pt x="0" y="14252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803414" y="1702533"/>
            <a:ext cx="7898685" cy="2367500"/>
            <a:chOff x="0" y="0"/>
            <a:chExt cx="1324971" cy="3971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24971" cy="397138"/>
            </a:xfrm>
            <a:custGeom>
              <a:avLst/>
              <a:gdLst/>
              <a:ahLst/>
              <a:cxnLst/>
              <a:rect l="l" t="t" r="r" b="b"/>
              <a:pathLst>
                <a:path w="1324971" h="397138">
                  <a:moveTo>
                    <a:pt x="49988" y="0"/>
                  </a:moveTo>
                  <a:lnTo>
                    <a:pt x="1274983" y="0"/>
                  </a:lnTo>
                  <a:cubicBezTo>
                    <a:pt x="1288241" y="0"/>
                    <a:pt x="1300956" y="5267"/>
                    <a:pt x="1310330" y="14641"/>
                  </a:cubicBezTo>
                  <a:cubicBezTo>
                    <a:pt x="1319705" y="24016"/>
                    <a:pt x="1324971" y="36730"/>
                    <a:pt x="1324971" y="49988"/>
                  </a:cubicBezTo>
                  <a:lnTo>
                    <a:pt x="1324971" y="347150"/>
                  </a:lnTo>
                  <a:cubicBezTo>
                    <a:pt x="1324971" y="374758"/>
                    <a:pt x="1302591" y="397138"/>
                    <a:pt x="1274983" y="397138"/>
                  </a:cubicBezTo>
                  <a:lnTo>
                    <a:pt x="49988" y="397138"/>
                  </a:lnTo>
                  <a:cubicBezTo>
                    <a:pt x="22380" y="397138"/>
                    <a:pt x="0" y="374758"/>
                    <a:pt x="0" y="347150"/>
                  </a:cubicBezTo>
                  <a:lnTo>
                    <a:pt x="0" y="49988"/>
                  </a:lnTo>
                  <a:cubicBezTo>
                    <a:pt x="0" y="22380"/>
                    <a:pt x="22380" y="0"/>
                    <a:pt x="49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324971" cy="473338"/>
            </a:xfrm>
            <a:prstGeom prst="rect">
              <a:avLst/>
            </a:prstGeom>
          </p:spPr>
          <p:txBody>
            <a:bodyPr lIns="79760" tIns="79760" rIns="79760" bIns="7976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513170" y="2245066"/>
            <a:ext cx="1604336" cy="1379729"/>
          </a:xfrm>
          <a:custGeom>
            <a:avLst/>
            <a:gdLst/>
            <a:ahLst/>
            <a:cxnLst/>
            <a:rect l="l" t="t" r="r" b="b"/>
            <a:pathLst>
              <a:path w="1604336" h="1379729">
                <a:moveTo>
                  <a:pt x="0" y="0"/>
                </a:moveTo>
                <a:lnTo>
                  <a:pt x="1604336" y="0"/>
                </a:lnTo>
                <a:lnTo>
                  <a:pt x="1604336" y="1379729"/>
                </a:lnTo>
                <a:lnTo>
                  <a:pt x="0" y="13797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3545577"/>
            <a:ext cx="4966047" cy="493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5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Unimos experiência, atendimento próximo e cobertura nacional para oferecer soluções completas em Medicina Ocupacional e Segurança do Trabalho.</a:t>
            </a:r>
          </a:p>
          <a:p>
            <a:pPr algn="l">
              <a:lnSpc>
                <a:spcPts val="3574"/>
              </a:lnSpc>
            </a:pPr>
            <a:endParaRPr lang="en-US" sz="25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Assim, sua empresa ganha muito mais tranquilidade para </a:t>
            </a:r>
            <a:r>
              <a:rPr lang="en-US" sz="25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focar no que realmente importa: CRESCER.</a:t>
            </a:r>
          </a:p>
        </p:txBody>
      </p:sp>
      <p:sp>
        <p:nvSpPr>
          <p:cNvPr id="24" name="Freeform 24"/>
          <p:cNvSpPr/>
          <p:nvPr/>
        </p:nvSpPr>
        <p:spPr>
          <a:xfrm>
            <a:off x="5981142" y="1509843"/>
            <a:ext cx="5759993" cy="9520649"/>
          </a:xfrm>
          <a:custGeom>
            <a:avLst/>
            <a:gdLst/>
            <a:ahLst/>
            <a:cxnLst/>
            <a:rect l="l" t="t" r="r" b="b"/>
            <a:pathLst>
              <a:path w="5759993" h="9520649">
                <a:moveTo>
                  <a:pt x="0" y="0"/>
                </a:moveTo>
                <a:lnTo>
                  <a:pt x="5759992" y="0"/>
                </a:lnTo>
                <a:lnTo>
                  <a:pt x="5759992" y="9520649"/>
                </a:lnTo>
                <a:lnTo>
                  <a:pt x="0" y="95206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474595" y="7694097"/>
            <a:ext cx="3258459" cy="95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1"/>
              </a:lnSpc>
              <a:spcBef>
                <a:spcPct val="0"/>
              </a:spcBef>
            </a:pPr>
            <a:r>
              <a:rPr lang="en-US" sz="262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Atendimento 100% humanizado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87979" y="5033304"/>
            <a:ext cx="3145075" cy="94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Cobertura em todo território nacional.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82570" y="1925487"/>
            <a:ext cx="3348010" cy="148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7"/>
              </a:lnSpc>
              <a:spcBef>
                <a:spcPct val="0"/>
              </a:spcBef>
            </a:pPr>
            <a:r>
              <a:rPr lang="en-US" sz="824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+100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72107" y="3297187"/>
            <a:ext cx="4078159" cy="4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Vidas atendidas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01139" y="2649207"/>
            <a:ext cx="4078159" cy="4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5497" y="2020737"/>
            <a:ext cx="8406917" cy="13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2"/>
              </a:lnSpc>
              <a:spcBef>
                <a:spcPct val="0"/>
              </a:spcBef>
            </a:pPr>
            <a:r>
              <a:rPr lang="en-US" sz="3844">
                <a:solidFill>
                  <a:srgbClr val="F69633"/>
                </a:solidFill>
                <a:latin typeface="Anton"/>
                <a:ea typeface="Anton"/>
                <a:cs typeface="Anton"/>
                <a:sym typeface="Anton"/>
              </a:rPr>
              <a:t>SUA EMPRESA MERECE UMA GESTÃO OCUPACIONAL EFICIENTE: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9991" y="-94249"/>
            <a:ext cx="18917493" cy="10965250"/>
          </a:xfrm>
          <a:custGeom>
            <a:avLst/>
            <a:gdLst/>
            <a:ahLst/>
            <a:cxnLst/>
            <a:rect l="l" t="t" r="r" b="b"/>
            <a:pathLst>
              <a:path w="18917493" h="10965250">
                <a:moveTo>
                  <a:pt x="0" y="0"/>
                </a:moveTo>
                <a:lnTo>
                  <a:pt x="18917494" y="0"/>
                </a:lnTo>
                <a:lnTo>
                  <a:pt x="18917494" y="10965251"/>
                </a:lnTo>
                <a:lnTo>
                  <a:pt x="0" y="1096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t="-7794" b="-779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9991" y="-478616"/>
            <a:ext cx="18950926" cy="11036493"/>
            <a:chOff x="0" y="0"/>
            <a:chExt cx="4991191" cy="29067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91191" cy="2906731"/>
            </a:xfrm>
            <a:custGeom>
              <a:avLst/>
              <a:gdLst/>
              <a:ahLst/>
              <a:cxnLst/>
              <a:rect l="l" t="t" r="r" b="b"/>
              <a:pathLst>
                <a:path w="4991191" h="2906731">
                  <a:moveTo>
                    <a:pt x="20835" y="0"/>
                  </a:moveTo>
                  <a:lnTo>
                    <a:pt x="4970356" y="0"/>
                  </a:lnTo>
                  <a:cubicBezTo>
                    <a:pt x="4981863" y="0"/>
                    <a:pt x="4991191" y="9328"/>
                    <a:pt x="4991191" y="20835"/>
                  </a:cubicBezTo>
                  <a:lnTo>
                    <a:pt x="4991191" y="2885896"/>
                  </a:lnTo>
                  <a:cubicBezTo>
                    <a:pt x="4991191" y="2891422"/>
                    <a:pt x="4988995" y="2896721"/>
                    <a:pt x="4985088" y="2900628"/>
                  </a:cubicBezTo>
                  <a:cubicBezTo>
                    <a:pt x="4981181" y="2904536"/>
                    <a:pt x="4975882" y="2906731"/>
                    <a:pt x="4970356" y="2906731"/>
                  </a:cubicBezTo>
                  <a:lnTo>
                    <a:pt x="20835" y="2906731"/>
                  </a:lnTo>
                  <a:cubicBezTo>
                    <a:pt x="15309" y="2906731"/>
                    <a:pt x="10010" y="2904536"/>
                    <a:pt x="6102" y="2900628"/>
                  </a:cubicBezTo>
                  <a:cubicBezTo>
                    <a:pt x="2195" y="2896721"/>
                    <a:pt x="0" y="2891422"/>
                    <a:pt x="0" y="2885896"/>
                  </a:cubicBezTo>
                  <a:lnTo>
                    <a:pt x="0" y="20835"/>
                  </a:lnTo>
                  <a:cubicBezTo>
                    <a:pt x="0" y="15309"/>
                    <a:pt x="2195" y="10010"/>
                    <a:pt x="6102" y="6102"/>
                  </a:cubicBezTo>
                  <a:cubicBezTo>
                    <a:pt x="10010" y="2195"/>
                    <a:pt x="15309" y="0"/>
                    <a:pt x="208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E5200">
                    <a:alpha val="100000"/>
                  </a:srgbClr>
                </a:gs>
                <a:gs pos="100000">
                  <a:srgbClr val="2D2D2D">
                    <a:alpha val="205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991191" cy="2982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004292">
            <a:off x="-7592185" y="5373014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118181" flipH="1">
            <a:off x="4797918" y="3302068"/>
            <a:ext cx="22320386" cy="3682864"/>
          </a:xfrm>
          <a:custGeom>
            <a:avLst/>
            <a:gdLst/>
            <a:ahLst/>
            <a:cxnLst/>
            <a:rect l="l" t="t" r="r" b="b"/>
            <a:pathLst>
              <a:path w="22320386" h="3682864">
                <a:moveTo>
                  <a:pt x="22320386" y="0"/>
                </a:moveTo>
                <a:lnTo>
                  <a:pt x="0" y="0"/>
                </a:lnTo>
                <a:lnTo>
                  <a:pt x="0" y="3682864"/>
                </a:lnTo>
                <a:lnTo>
                  <a:pt x="22320386" y="3682864"/>
                </a:lnTo>
                <a:lnTo>
                  <a:pt x="2232038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742790" y="2625374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42790" y="5820672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2930" y="2625374"/>
            <a:ext cx="3086100" cy="308610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2110" y="5820672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20610" y="2625374"/>
            <a:ext cx="3086100" cy="30861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-8807772" y="6493643"/>
            <a:ext cx="18846139" cy="3109613"/>
          </a:xfrm>
          <a:custGeom>
            <a:avLst/>
            <a:gdLst/>
            <a:ahLst/>
            <a:cxnLst/>
            <a:rect l="l" t="t" r="r" b="b"/>
            <a:pathLst>
              <a:path w="18846139" h="3109613">
                <a:moveTo>
                  <a:pt x="0" y="0"/>
                </a:moveTo>
                <a:lnTo>
                  <a:pt x="18846139" y="0"/>
                </a:lnTo>
                <a:lnTo>
                  <a:pt x="18846139" y="3109613"/>
                </a:lnTo>
                <a:lnTo>
                  <a:pt x="0" y="3109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220610" y="5820672"/>
            <a:ext cx="3086100" cy="30861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59110" y="2644424"/>
            <a:ext cx="3086100" cy="308610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459110" y="5839722"/>
            <a:ext cx="3086100" cy="308610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3863092" y="2988592"/>
            <a:ext cx="845496" cy="955363"/>
          </a:xfrm>
          <a:custGeom>
            <a:avLst/>
            <a:gdLst/>
            <a:ahLst/>
            <a:cxnLst/>
            <a:rect l="l" t="t" r="r" b="b"/>
            <a:pathLst>
              <a:path w="845496" h="955363">
                <a:moveTo>
                  <a:pt x="0" y="0"/>
                </a:moveTo>
                <a:lnTo>
                  <a:pt x="845496" y="0"/>
                </a:lnTo>
                <a:lnTo>
                  <a:pt x="845496" y="955364"/>
                </a:lnTo>
                <a:lnTo>
                  <a:pt x="0" y="955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001667" y="3037346"/>
            <a:ext cx="1046165" cy="857856"/>
          </a:xfrm>
          <a:custGeom>
            <a:avLst/>
            <a:gdLst/>
            <a:ahLst/>
            <a:cxnLst/>
            <a:rect l="l" t="t" r="r" b="b"/>
            <a:pathLst>
              <a:path w="1046165" h="857856">
                <a:moveTo>
                  <a:pt x="0" y="0"/>
                </a:moveTo>
                <a:lnTo>
                  <a:pt x="1046166" y="0"/>
                </a:lnTo>
                <a:lnTo>
                  <a:pt x="1046166" y="857856"/>
                </a:lnTo>
                <a:lnTo>
                  <a:pt x="0" y="8578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258753" y="2988592"/>
            <a:ext cx="1010633" cy="1010633"/>
          </a:xfrm>
          <a:custGeom>
            <a:avLst/>
            <a:gdLst/>
            <a:ahLst/>
            <a:cxnLst/>
            <a:rect l="l" t="t" r="r" b="b"/>
            <a:pathLst>
              <a:path w="1010633" h="1010633">
                <a:moveTo>
                  <a:pt x="0" y="0"/>
                </a:moveTo>
                <a:lnTo>
                  <a:pt x="1010633" y="0"/>
                </a:lnTo>
                <a:lnTo>
                  <a:pt x="1010633" y="1010633"/>
                </a:lnTo>
                <a:lnTo>
                  <a:pt x="0" y="10106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3478285" y="2988592"/>
            <a:ext cx="996561" cy="1077363"/>
          </a:xfrm>
          <a:custGeom>
            <a:avLst/>
            <a:gdLst/>
            <a:ahLst/>
            <a:cxnLst/>
            <a:rect l="l" t="t" r="r" b="b"/>
            <a:pathLst>
              <a:path w="996561" h="1077363">
                <a:moveTo>
                  <a:pt x="0" y="0"/>
                </a:moveTo>
                <a:lnTo>
                  <a:pt x="996561" y="0"/>
                </a:lnTo>
                <a:lnTo>
                  <a:pt x="996561" y="1077364"/>
                </a:lnTo>
                <a:lnTo>
                  <a:pt x="0" y="10773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3683899" y="6120405"/>
            <a:ext cx="1203882" cy="860776"/>
          </a:xfrm>
          <a:custGeom>
            <a:avLst/>
            <a:gdLst/>
            <a:ahLst/>
            <a:cxnLst/>
            <a:rect l="l" t="t" r="r" b="b"/>
            <a:pathLst>
              <a:path w="1203882" h="860776">
                <a:moveTo>
                  <a:pt x="0" y="0"/>
                </a:moveTo>
                <a:lnTo>
                  <a:pt x="1203882" y="0"/>
                </a:lnTo>
                <a:lnTo>
                  <a:pt x="1203882" y="860775"/>
                </a:lnTo>
                <a:lnTo>
                  <a:pt x="0" y="860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094518" y="6028527"/>
            <a:ext cx="860464" cy="930232"/>
          </a:xfrm>
          <a:custGeom>
            <a:avLst/>
            <a:gdLst/>
            <a:ahLst/>
            <a:cxnLst/>
            <a:rect l="l" t="t" r="r" b="b"/>
            <a:pathLst>
              <a:path w="860464" h="930232">
                <a:moveTo>
                  <a:pt x="0" y="0"/>
                </a:moveTo>
                <a:lnTo>
                  <a:pt x="860464" y="0"/>
                </a:lnTo>
                <a:lnTo>
                  <a:pt x="860464" y="930231"/>
                </a:lnTo>
                <a:lnTo>
                  <a:pt x="0" y="9302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0149366" y="6120405"/>
            <a:ext cx="1228587" cy="952155"/>
          </a:xfrm>
          <a:custGeom>
            <a:avLst/>
            <a:gdLst/>
            <a:ahLst/>
            <a:cxnLst/>
            <a:rect l="l" t="t" r="r" b="b"/>
            <a:pathLst>
              <a:path w="1228587" h="952155">
                <a:moveTo>
                  <a:pt x="0" y="0"/>
                </a:moveTo>
                <a:lnTo>
                  <a:pt x="1228587" y="0"/>
                </a:lnTo>
                <a:lnTo>
                  <a:pt x="1228587" y="952155"/>
                </a:lnTo>
                <a:lnTo>
                  <a:pt x="0" y="9521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480143" y="6120405"/>
            <a:ext cx="1044033" cy="1044033"/>
          </a:xfrm>
          <a:custGeom>
            <a:avLst/>
            <a:gdLst/>
            <a:ahLst/>
            <a:cxnLst/>
            <a:rect l="l" t="t" r="r" b="b"/>
            <a:pathLst>
              <a:path w="1044033" h="1044033">
                <a:moveTo>
                  <a:pt x="0" y="0"/>
                </a:moveTo>
                <a:lnTo>
                  <a:pt x="1044033" y="0"/>
                </a:lnTo>
                <a:lnTo>
                  <a:pt x="1044033" y="1044033"/>
                </a:lnTo>
                <a:lnTo>
                  <a:pt x="0" y="104403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2742790" y="1363487"/>
            <a:ext cx="13699027" cy="6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8"/>
              </a:lnSpc>
              <a:spcBef>
                <a:spcPct val="0"/>
              </a:spcBef>
            </a:pPr>
            <a:r>
              <a:rPr lang="en-US" sz="362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Vantagens de contar com a CONTROLLER MEDSEG nos seus processos: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86057" y="4054124"/>
            <a:ext cx="2399567" cy="134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Conformidade com a legislação trabalhista e normas vigentes.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24967" y="4130324"/>
            <a:ext cx="2399567" cy="100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Redução de riscos, multas e passivos trabalhistas.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28643" y="4130324"/>
            <a:ext cx="2870853" cy="134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centralizada de documentos, exames e vencimentos.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41139" y="4220775"/>
            <a:ext cx="2870853" cy="100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nacional com atendimento padronizado.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045429" y="7219305"/>
            <a:ext cx="2480823" cy="100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Integração com o eSocial e gestão dos eventos de SST.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43710" y="7215933"/>
            <a:ext cx="2480823" cy="134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Maior tranquilidade para focar no crescimento do negócio.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87310" y="7219305"/>
            <a:ext cx="2480823" cy="134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Mais produtividade para o RH, com menos burocracia operacional.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566733" y="7243435"/>
            <a:ext cx="2870853" cy="675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inteligente com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9991" y="-94249"/>
            <a:ext cx="18917493" cy="10965250"/>
          </a:xfrm>
          <a:custGeom>
            <a:avLst/>
            <a:gdLst/>
            <a:ahLst/>
            <a:cxnLst/>
            <a:rect l="l" t="t" r="r" b="b"/>
            <a:pathLst>
              <a:path w="18917493" h="10965250">
                <a:moveTo>
                  <a:pt x="0" y="0"/>
                </a:moveTo>
                <a:lnTo>
                  <a:pt x="18917494" y="0"/>
                </a:lnTo>
                <a:lnTo>
                  <a:pt x="18917494" y="10965251"/>
                </a:lnTo>
                <a:lnTo>
                  <a:pt x="0" y="1096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t="-7794" b="-779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62926" y="-374747"/>
            <a:ext cx="18950926" cy="11036493"/>
            <a:chOff x="0" y="0"/>
            <a:chExt cx="4991191" cy="29067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91191" cy="2906731"/>
            </a:xfrm>
            <a:custGeom>
              <a:avLst/>
              <a:gdLst/>
              <a:ahLst/>
              <a:cxnLst/>
              <a:rect l="l" t="t" r="r" b="b"/>
              <a:pathLst>
                <a:path w="4991191" h="2906731">
                  <a:moveTo>
                    <a:pt x="20835" y="0"/>
                  </a:moveTo>
                  <a:lnTo>
                    <a:pt x="4970356" y="0"/>
                  </a:lnTo>
                  <a:cubicBezTo>
                    <a:pt x="4981863" y="0"/>
                    <a:pt x="4991191" y="9328"/>
                    <a:pt x="4991191" y="20835"/>
                  </a:cubicBezTo>
                  <a:lnTo>
                    <a:pt x="4991191" y="2885896"/>
                  </a:lnTo>
                  <a:cubicBezTo>
                    <a:pt x="4991191" y="2891422"/>
                    <a:pt x="4988995" y="2896721"/>
                    <a:pt x="4985088" y="2900628"/>
                  </a:cubicBezTo>
                  <a:cubicBezTo>
                    <a:pt x="4981181" y="2904536"/>
                    <a:pt x="4975882" y="2906731"/>
                    <a:pt x="4970356" y="2906731"/>
                  </a:cubicBezTo>
                  <a:lnTo>
                    <a:pt x="20835" y="2906731"/>
                  </a:lnTo>
                  <a:cubicBezTo>
                    <a:pt x="15309" y="2906731"/>
                    <a:pt x="10010" y="2904536"/>
                    <a:pt x="6102" y="2900628"/>
                  </a:cubicBezTo>
                  <a:cubicBezTo>
                    <a:pt x="2195" y="2896721"/>
                    <a:pt x="0" y="2891422"/>
                    <a:pt x="0" y="2885896"/>
                  </a:cubicBezTo>
                  <a:lnTo>
                    <a:pt x="0" y="20835"/>
                  </a:lnTo>
                  <a:cubicBezTo>
                    <a:pt x="0" y="15309"/>
                    <a:pt x="2195" y="10010"/>
                    <a:pt x="6102" y="6102"/>
                  </a:cubicBezTo>
                  <a:cubicBezTo>
                    <a:pt x="10010" y="2195"/>
                    <a:pt x="15309" y="0"/>
                    <a:pt x="208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2D2D2D">
                    <a:alpha val="205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991191" cy="2982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2732" y="1072459"/>
            <a:ext cx="8775431" cy="3564175"/>
            <a:chOff x="-159123" y="20481"/>
            <a:chExt cx="11700575" cy="475223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53499"/>
              <a:ext cx="7266386" cy="1139626"/>
              <a:chOff x="0" y="0"/>
              <a:chExt cx="1435336" cy="22511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35336" cy="225111"/>
              </a:xfrm>
              <a:custGeom>
                <a:avLst/>
                <a:gdLst/>
                <a:ahLst/>
                <a:cxnLst/>
                <a:rect l="l" t="t" r="r" b="b"/>
                <a:pathLst>
                  <a:path w="1435336" h="225111">
                    <a:moveTo>
                      <a:pt x="72450" y="0"/>
                    </a:moveTo>
                    <a:lnTo>
                      <a:pt x="1362886" y="0"/>
                    </a:lnTo>
                    <a:cubicBezTo>
                      <a:pt x="1382101" y="0"/>
                      <a:pt x="1400528" y="7633"/>
                      <a:pt x="1414116" y="21220"/>
                    </a:cubicBezTo>
                    <a:cubicBezTo>
                      <a:pt x="1427702" y="34807"/>
                      <a:pt x="1435336" y="53235"/>
                      <a:pt x="1435336" y="72450"/>
                    </a:cubicBezTo>
                    <a:lnTo>
                      <a:pt x="1435336" y="152661"/>
                    </a:lnTo>
                    <a:cubicBezTo>
                      <a:pt x="1435336" y="192674"/>
                      <a:pt x="1402899" y="225111"/>
                      <a:pt x="1362886" y="225111"/>
                    </a:cubicBezTo>
                    <a:lnTo>
                      <a:pt x="72450" y="225111"/>
                    </a:lnTo>
                    <a:cubicBezTo>
                      <a:pt x="32437" y="225111"/>
                      <a:pt x="0" y="192674"/>
                      <a:pt x="0" y="152661"/>
                    </a:cubicBezTo>
                    <a:lnTo>
                      <a:pt x="0" y="72450"/>
                    </a:lnTo>
                    <a:cubicBezTo>
                      <a:pt x="0" y="32437"/>
                      <a:pt x="32437" y="0"/>
                      <a:pt x="72450" y="0"/>
                    </a:cubicBezTo>
                    <a:close/>
                  </a:path>
                </a:pathLst>
              </a:custGeom>
              <a:solidFill>
                <a:srgbClr val="E5E2D9"/>
              </a:solidFill>
              <a:ln w="28575" cap="rnd">
                <a:solidFill>
                  <a:srgbClr val="E5E2D9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76200"/>
                <a:ext cx="1435336" cy="3013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-159123" y="20481"/>
              <a:ext cx="1193125" cy="1193125"/>
            </a:xfrm>
            <a:custGeom>
              <a:avLst/>
              <a:gdLst/>
              <a:ahLst/>
              <a:cxnLst/>
              <a:rect l="l" t="t" r="r" b="b"/>
              <a:pathLst>
                <a:path w="1193125" h="1193125">
                  <a:moveTo>
                    <a:pt x="0" y="0"/>
                  </a:moveTo>
                  <a:lnTo>
                    <a:pt x="1193125" y="0"/>
                  </a:lnTo>
                  <a:lnTo>
                    <a:pt x="1193125" y="1193125"/>
                  </a:lnTo>
                  <a:lnTo>
                    <a:pt x="0" y="119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90500" y="1492613"/>
              <a:ext cx="11350952" cy="3280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5249" lvl="1" indent="-252624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Exames admissionais;</a:t>
              </a:r>
            </a:p>
            <a:p>
              <a:pPr marL="505249" lvl="1" indent="-252624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Exames periódicos;</a:t>
              </a:r>
            </a:p>
            <a:p>
              <a:pPr marL="505249" lvl="1" indent="-252624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Exames demissionais;</a:t>
              </a:r>
            </a:p>
            <a:p>
              <a:pPr marL="505249" lvl="1" indent="-252624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Retorno ao trabalho;</a:t>
              </a:r>
            </a:p>
            <a:p>
              <a:pPr marL="505249" lvl="1" indent="-252624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Mudança de risco;</a:t>
              </a:r>
            </a:p>
            <a:p>
              <a:pPr marL="505249" lvl="1" indent="-252624" algn="l">
                <a:lnSpc>
                  <a:spcPts val="32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Exames complementares.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9625" y="267239"/>
              <a:ext cx="5577364" cy="61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MEDICINA OCUPACIONAL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48074" y="992777"/>
            <a:ext cx="5695075" cy="4395599"/>
            <a:chOff x="-104423" y="-35778"/>
            <a:chExt cx="7593432" cy="5860800"/>
          </a:xfrm>
        </p:grpSpPr>
        <p:grpSp>
          <p:nvGrpSpPr>
            <p:cNvPr id="14" name="Group 14"/>
            <p:cNvGrpSpPr/>
            <p:nvPr/>
          </p:nvGrpSpPr>
          <p:grpSpPr>
            <a:xfrm>
              <a:off x="63500" y="26749"/>
              <a:ext cx="7266386" cy="1139626"/>
              <a:chOff x="0" y="0"/>
              <a:chExt cx="1435336" cy="22511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35336" cy="225111"/>
              </a:xfrm>
              <a:custGeom>
                <a:avLst/>
                <a:gdLst/>
                <a:ahLst/>
                <a:cxnLst/>
                <a:rect l="l" t="t" r="r" b="b"/>
                <a:pathLst>
                  <a:path w="1435336" h="225111">
                    <a:moveTo>
                      <a:pt x="72450" y="0"/>
                    </a:moveTo>
                    <a:lnTo>
                      <a:pt x="1362886" y="0"/>
                    </a:lnTo>
                    <a:cubicBezTo>
                      <a:pt x="1382101" y="0"/>
                      <a:pt x="1400528" y="7633"/>
                      <a:pt x="1414116" y="21220"/>
                    </a:cubicBezTo>
                    <a:cubicBezTo>
                      <a:pt x="1427702" y="34807"/>
                      <a:pt x="1435336" y="53235"/>
                      <a:pt x="1435336" y="72450"/>
                    </a:cubicBezTo>
                    <a:lnTo>
                      <a:pt x="1435336" y="152661"/>
                    </a:lnTo>
                    <a:cubicBezTo>
                      <a:pt x="1435336" y="192674"/>
                      <a:pt x="1402899" y="225111"/>
                      <a:pt x="1362886" y="225111"/>
                    </a:cubicBezTo>
                    <a:lnTo>
                      <a:pt x="72450" y="225111"/>
                    </a:lnTo>
                    <a:cubicBezTo>
                      <a:pt x="32437" y="225111"/>
                      <a:pt x="0" y="192674"/>
                      <a:pt x="0" y="152661"/>
                    </a:cubicBezTo>
                    <a:lnTo>
                      <a:pt x="0" y="72450"/>
                    </a:lnTo>
                    <a:cubicBezTo>
                      <a:pt x="0" y="32437"/>
                      <a:pt x="32437" y="0"/>
                      <a:pt x="72450" y="0"/>
                    </a:cubicBezTo>
                    <a:close/>
                  </a:path>
                </a:pathLst>
              </a:custGeom>
              <a:solidFill>
                <a:srgbClr val="E5E2D9"/>
              </a:solidFill>
              <a:ln w="28575" cap="rnd">
                <a:solidFill>
                  <a:srgbClr val="E5E2D9"/>
                </a:soli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76200"/>
                <a:ext cx="1435336" cy="3013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91429" y="291289"/>
              <a:ext cx="6597580" cy="61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SEGURANÇA DO TRABALHO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000" y="1468001"/>
              <a:ext cx="7075886" cy="4357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PGR - Programa de Gerenciamento de riscos;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PCMSO;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LTCAT;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Laudos técnicos;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Análises Ergonômicas;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Avaliações ambientais;</a:t>
              </a:r>
            </a:p>
            <a:p>
              <a:pPr marL="505206" lvl="1" indent="-252603" algn="l">
                <a:lnSpc>
                  <a:spcPts val="32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NRs diversas.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-104423" y="-35778"/>
              <a:ext cx="1193125" cy="1193126"/>
            </a:xfrm>
            <a:custGeom>
              <a:avLst/>
              <a:gdLst/>
              <a:ahLst/>
              <a:cxnLst/>
              <a:rect l="l" t="t" r="r" b="b"/>
              <a:pathLst>
                <a:path w="1193125" h="1193125">
                  <a:moveTo>
                    <a:pt x="0" y="0"/>
                  </a:moveTo>
                  <a:lnTo>
                    <a:pt x="1193125" y="0"/>
                  </a:lnTo>
                  <a:lnTo>
                    <a:pt x="1193125" y="1193125"/>
                  </a:lnTo>
                  <a:lnTo>
                    <a:pt x="0" y="119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2074" y="6100023"/>
            <a:ext cx="9606860" cy="3158277"/>
            <a:chOff x="0" y="0"/>
            <a:chExt cx="12809146" cy="4211036"/>
          </a:xfrm>
        </p:grpSpPr>
        <p:grpSp>
          <p:nvGrpSpPr>
            <p:cNvPr id="21" name="Group 21"/>
            <p:cNvGrpSpPr/>
            <p:nvPr/>
          </p:nvGrpSpPr>
          <p:grpSpPr>
            <a:xfrm>
              <a:off x="198143" y="53499"/>
              <a:ext cx="7266386" cy="1139626"/>
              <a:chOff x="0" y="0"/>
              <a:chExt cx="1435336" cy="2251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35336" cy="225111"/>
              </a:xfrm>
              <a:custGeom>
                <a:avLst/>
                <a:gdLst/>
                <a:ahLst/>
                <a:cxnLst/>
                <a:rect l="l" t="t" r="r" b="b"/>
                <a:pathLst>
                  <a:path w="1435336" h="225111">
                    <a:moveTo>
                      <a:pt x="72450" y="0"/>
                    </a:moveTo>
                    <a:lnTo>
                      <a:pt x="1362886" y="0"/>
                    </a:lnTo>
                    <a:cubicBezTo>
                      <a:pt x="1382101" y="0"/>
                      <a:pt x="1400528" y="7633"/>
                      <a:pt x="1414116" y="21220"/>
                    </a:cubicBezTo>
                    <a:cubicBezTo>
                      <a:pt x="1427702" y="34807"/>
                      <a:pt x="1435336" y="53235"/>
                      <a:pt x="1435336" y="72450"/>
                    </a:cubicBezTo>
                    <a:lnTo>
                      <a:pt x="1435336" y="152661"/>
                    </a:lnTo>
                    <a:cubicBezTo>
                      <a:pt x="1435336" y="192674"/>
                      <a:pt x="1402899" y="225111"/>
                      <a:pt x="1362886" y="225111"/>
                    </a:cubicBezTo>
                    <a:lnTo>
                      <a:pt x="72450" y="225111"/>
                    </a:lnTo>
                    <a:cubicBezTo>
                      <a:pt x="32437" y="225111"/>
                      <a:pt x="0" y="192674"/>
                      <a:pt x="0" y="152661"/>
                    </a:cubicBezTo>
                    <a:lnTo>
                      <a:pt x="0" y="72450"/>
                    </a:lnTo>
                    <a:cubicBezTo>
                      <a:pt x="0" y="32437"/>
                      <a:pt x="32437" y="0"/>
                      <a:pt x="72450" y="0"/>
                    </a:cubicBezTo>
                    <a:close/>
                  </a:path>
                </a:pathLst>
              </a:custGeom>
              <a:solidFill>
                <a:srgbClr val="E5E2D9"/>
              </a:solidFill>
              <a:ln w="28575" cap="rnd">
                <a:solidFill>
                  <a:srgbClr val="E5E2D9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76200"/>
                <a:ext cx="1435336" cy="3013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56347" y="267239"/>
              <a:ext cx="6597580" cy="61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GESTÃO E COMPLIANCE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193125" cy="1193125"/>
            </a:xfrm>
            <a:custGeom>
              <a:avLst/>
              <a:gdLst/>
              <a:ahLst/>
              <a:cxnLst/>
              <a:rect l="l" t="t" r="r" b="b"/>
              <a:pathLst>
                <a:path w="1193125" h="1193125">
                  <a:moveTo>
                    <a:pt x="0" y="0"/>
                  </a:moveTo>
                  <a:lnTo>
                    <a:pt x="1193125" y="0"/>
                  </a:lnTo>
                  <a:lnTo>
                    <a:pt x="1193125" y="1193125"/>
                  </a:lnTo>
                  <a:lnTo>
                    <a:pt x="0" y="119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98143" y="1492613"/>
              <a:ext cx="12611003" cy="2718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Gestão do eSocial;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Auditorias e diagnósticos;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Gestão de documentação;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Indicadores de relatórios gerenciais;</a:t>
              </a:r>
            </a:p>
            <a:p>
              <a:pPr marL="505206" lvl="1" indent="-252603" algn="l">
                <a:lnSpc>
                  <a:spcPts val="32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Suporte técnico especializado.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7419" y="5805482"/>
            <a:ext cx="9807250" cy="3170062"/>
            <a:chOff x="0" y="0"/>
            <a:chExt cx="13076333" cy="4226749"/>
          </a:xfrm>
        </p:grpSpPr>
        <p:grpSp>
          <p:nvGrpSpPr>
            <p:cNvPr id="28" name="Group 28"/>
            <p:cNvGrpSpPr/>
            <p:nvPr/>
          </p:nvGrpSpPr>
          <p:grpSpPr>
            <a:xfrm>
              <a:off x="465331" y="292467"/>
              <a:ext cx="7266386" cy="1139626"/>
              <a:chOff x="0" y="0"/>
              <a:chExt cx="1435336" cy="22511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35336" cy="225111"/>
              </a:xfrm>
              <a:custGeom>
                <a:avLst/>
                <a:gdLst/>
                <a:ahLst/>
                <a:cxnLst/>
                <a:rect l="l" t="t" r="r" b="b"/>
                <a:pathLst>
                  <a:path w="1435336" h="225111">
                    <a:moveTo>
                      <a:pt x="72450" y="0"/>
                    </a:moveTo>
                    <a:lnTo>
                      <a:pt x="1362886" y="0"/>
                    </a:lnTo>
                    <a:cubicBezTo>
                      <a:pt x="1382101" y="0"/>
                      <a:pt x="1400528" y="7633"/>
                      <a:pt x="1414116" y="21220"/>
                    </a:cubicBezTo>
                    <a:cubicBezTo>
                      <a:pt x="1427702" y="34807"/>
                      <a:pt x="1435336" y="53235"/>
                      <a:pt x="1435336" y="72450"/>
                    </a:cubicBezTo>
                    <a:lnTo>
                      <a:pt x="1435336" y="152661"/>
                    </a:lnTo>
                    <a:cubicBezTo>
                      <a:pt x="1435336" y="192674"/>
                      <a:pt x="1402899" y="225111"/>
                      <a:pt x="1362886" y="225111"/>
                    </a:cubicBezTo>
                    <a:lnTo>
                      <a:pt x="72450" y="225111"/>
                    </a:lnTo>
                    <a:cubicBezTo>
                      <a:pt x="32437" y="225111"/>
                      <a:pt x="0" y="192674"/>
                      <a:pt x="0" y="152661"/>
                    </a:cubicBezTo>
                    <a:lnTo>
                      <a:pt x="0" y="72450"/>
                    </a:lnTo>
                    <a:cubicBezTo>
                      <a:pt x="0" y="32437"/>
                      <a:pt x="32437" y="0"/>
                      <a:pt x="72450" y="0"/>
                    </a:cubicBezTo>
                    <a:close/>
                  </a:path>
                </a:pathLst>
              </a:custGeom>
              <a:solidFill>
                <a:srgbClr val="E5E2D9"/>
              </a:solidFill>
              <a:ln w="28575" cap="rnd">
                <a:solidFill>
                  <a:srgbClr val="E5E2D9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76200"/>
                <a:ext cx="1435336" cy="3013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39931" y="545777"/>
              <a:ext cx="6597580" cy="61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SAÚDE E BEM ESTAR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1752900" cy="1752900"/>
            </a:xfrm>
            <a:custGeom>
              <a:avLst/>
              <a:gdLst/>
              <a:ahLst/>
              <a:cxnLst/>
              <a:rect l="l" t="t" r="r" b="b"/>
              <a:pathLst>
                <a:path w="1752900" h="1752900">
                  <a:moveTo>
                    <a:pt x="0" y="0"/>
                  </a:moveTo>
                  <a:lnTo>
                    <a:pt x="1752900" y="0"/>
                  </a:lnTo>
                  <a:lnTo>
                    <a:pt x="1752900" y="1752900"/>
                  </a:lnTo>
                  <a:lnTo>
                    <a:pt x="0" y="17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465331" y="2054525"/>
              <a:ext cx="12611003" cy="2172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Campanhas de saúde;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Programas preventivos;</a:t>
              </a:r>
            </a:p>
            <a:p>
              <a:pPr marL="505206" lvl="1" indent="-252603" algn="l">
                <a:lnSpc>
                  <a:spcPts val="3276"/>
                </a:lnSpc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Atendimento ocupacional;</a:t>
              </a:r>
            </a:p>
            <a:p>
              <a:pPr marL="505206" lvl="1" indent="-252603" algn="l">
                <a:lnSpc>
                  <a:spcPts val="327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Consultoria para RH e gestores.</a:t>
              </a:r>
            </a:p>
          </p:txBody>
        </p:sp>
      </p:grpSp>
      <p:sp>
        <p:nvSpPr>
          <p:cNvPr id="34" name="Freeform 34"/>
          <p:cNvSpPr/>
          <p:nvPr/>
        </p:nvSpPr>
        <p:spPr>
          <a:xfrm rot="4322708">
            <a:off x="417268" y="5025433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8900">
                <a:alpha val="100000"/>
              </a:srgbClr>
            </a:gs>
            <a:gs pos="100000">
              <a:srgbClr val="0E52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565EA-0861-62E1-EF89-49F7FD93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10998B-1846-ADE5-7920-48F212FC3142}"/>
              </a:ext>
            </a:extLst>
          </p:cNvPr>
          <p:cNvSpPr/>
          <p:nvPr/>
        </p:nvSpPr>
        <p:spPr>
          <a:xfrm>
            <a:off x="-7859024" y="6284093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CD889D-9DF2-F83E-D598-3D23542AAA57}"/>
              </a:ext>
            </a:extLst>
          </p:cNvPr>
          <p:cNvSpPr/>
          <p:nvPr/>
        </p:nvSpPr>
        <p:spPr>
          <a:xfrm rot="2004292">
            <a:off x="-8126975" y="5991570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B55387-CC52-309B-55A9-0FBDE6E25B66}"/>
              </a:ext>
            </a:extLst>
          </p:cNvPr>
          <p:cNvSpPr/>
          <p:nvPr/>
        </p:nvSpPr>
        <p:spPr>
          <a:xfrm rot="-1353632" flipH="1">
            <a:off x="6480726" y="3423264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18311349" y="0"/>
                </a:moveTo>
                <a:lnTo>
                  <a:pt x="0" y="0"/>
                </a:lnTo>
                <a:lnTo>
                  <a:pt x="0" y="3021372"/>
                </a:lnTo>
                <a:lnTo>
                  <a:pt x="18311349" y="3021372"/>
                </a:lnTo>
                <a:lnTo>
                  <a:pt x="1831134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ECC8FF-E823-933B-7E25-7884FE20127F}"/>
              </a:ext>
            </a:extLst>
          </p:cNvPr>
          <p:cNvGrpSpPr/>
          <p:nvPr/>
        </p:nvGrpSpPr>
        <p:grpSpPr>
          <a:xfrm>
            <a:off x="2963063" y="1484440"/>
            <a:ext cx="12476174" cy="7271176"/>
            <a:chOff x="0" y="0"/>
            <a:chExt cx="3285906" cy="187427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E09C03-1511-A12A-35DB-2747AD6380CD}"/>
                </a:ext>
              </a:extLst>
            </p:cNvPr>
            <p:cNvSpPr/>
            <p:nvPr/>
          </p:nvSpPr>
          <p:spPr>
            <a:xfrm>
              <a:off x="0" y="0"/>
              <a:ext cx="3285906" cy="1874272"/>
            </a:xfrm>
            <a:custGeom>
              <a:avLst/>
              <a:gdLst/>
              <a:ahLst/>
              <a:cxnLst/>
              <a:rect l="l" t="t" r="r" b="b"/>
              <a:pathLst>
                <a:path w="3285906" h="1874272">
                  <a:moveTo>
                    <a:pt x="31647" y="0"/>
                  </a:moveTo>
                  <a:lnTo>
                    <a:pt x="3254259" y="0"/>
                  </a:lnTo>
                  <a:cubicBezTo>
                    <a:pt x="3262652" y="0"/>
                    <a:pt x="3270702" y="3334"/>
                    <a:pt x="3276637" y="9269"/>
                  </a:cubicBezTo>
                  <a:cubicBezTo>
                    <a:pt x="3282572" y="15204"/>
                    <a:pt x="3285906" y="23254"/>
                    <a:pt x="3285906" y="31647"/>
                  </a:cubicBezTo>
                  <a:lnTo>
                    <a:pt x="3285906" y="1842625"/>
                  </a:lnTo>
                  <a:cubicBezTo>
                    <a:pt x="3285906" y="1860103"/>
                    <a:pt x="3271737" y="1874272"/>
                    <a:pt x="3254259" y="1874272"/>
                  </a:cubicBezTo>
                  <a:lnTo>
                    <a:pt x="31647" y="1874272"/>
                  </a:lnTo>
                  <a:cubicBezTo>
                    <a:pt x="23254" y="1874272"/>
                    <a:pt x="15204" y="1870938"/>
                    <a:pt x="9269" y="1865003"/>
                  </a:cubicBezTo>
                  <a:cubicBezTo>
                    <a:pt x="3334" y="1859068"/>
                    <a:pt x="0" y="1851018"/>
                    <a:pt x="0" y="1842625"/>
                  </a:cubicBezTo>
                  <a:lnTo>
                    <a:pt x="0" y="31647"/>
                  </a:lnTo>
                  <a:cubicBezTo>
                    <a:pt x="0" y="23254"/>
                    <a:pt x="3334" y="15204"/>
                    <a:pt x="9269" y="9269"/>
                  </a:cubicBezTo>
                  <a:cubicBezTo>
                    <a:pt x="15204" y="3334"/>
                    <a:pt x="23254" y="0"/>
                    <a:pt x="31647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57098E-D571-242E-2595-7B639B214A41}"/>
                </a:ext>
              </a:extLst>
            </p:cNvPr>
            <p:cNvSpPr txBox="1"/>
            <p:nvPr/>
          </p:nvSpPr>
          <p:spPr>
            <a:xfrm>
              <a:off x="0" y="-76200"/>
              <a:ext cx="3285906" cy="1950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hipo-modalidade:por_vida">
            <a:extLst>
              <a:ext uri="{FF2B5EF4-FFF2-40B4-BE49-F238E27FC236}">
                <a16:creationId xmlns:a16="http://schemas.microsoft.com/office/drawing/2014/main" id="{35475D04-7003-092A-848E-0AD45E89605D}"/>
              </a:ext>
            </a:extLst>
          </p:cNvPr>
          <p:cNvSpPr txBox="1"/>
          <p:nvPr/>
        </p:nvSpPr>
        <p:spPr>
          <a:xfrm>
            <a:off x="3505200" y="2400300"/>
            <a:ext cx="11223916" cy="5023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{{ESCOPO_ITEM}}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D9B80A2-6F63-0F7B-3849-39A520AA5BCA}"/>
              </a:ext>
            </a:extLst>
          </p:cNvPr>
          <p:cNvGrpSpPr/>
          <p:nvPr/>
        </p:nvGrpSpPr>
        <p:grpSpPr>
          <a:xfrm>
            <a:off x="3976579" y="6896100"/>
            <a:ext cx="4786460" cy="1173195"/>
            <a:chOff x="0" y="0"/>
            <a:chExt cx="1260631" cy="30899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164C680-79D5-0846-AC84-780536953CBB}"/>
                </a:ext>
              </a:extLst>
            </p:cNvPr>
            <p:cNvSpPr/>
            <p:nvPr/>
          </p:nvSpPr>
          <p:spPr>
            <a:xfrm>
              <a:off x="0" y="0"/>
              <a:ext cx="1260631" cy="308990"/>
            </a:xfrm>
            <a:custGeom>
              <a:avLst/>
              <a:gdLst/>
              <a:ahLst/>
              <a:cxnLst/>
              <a:rect l="l" t="t" r="r" b="b"/>
              <a:pathLst>
                <a:path w="1260631" h="308990">
                  <a:moveTo>
                    <a:pt x="0" y="0"/>
                  </a:moveTo>
                  <a:lnTo>
                    <a:pt x="1260631" y="0"/>
                  </a:lnTo>
                  <a:lnTo>
                    <a:pt x="1260631" y="308990"/>
                  </a:lnTo>
                  <a:lnTo>
                    <a:pt x="0" y="308990"/>
                  </a:lnTo>
                  <a:close/>
                </a:path>
              </a:pathLst>
            </a:custGeom>
            <a:ln w="9525" cap="sq">
              <a:solidFill>
                <a:srgbClr val="F86000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275A64-B712-3F4A-25B8-EEE4EA11710E}"/>
                </a:ext>
              </a:extLst>
            </p:cNvPr>
            <p:cNvSpPr txBox="1"/>
            <p:nvPr/>
          </p:nvSpPr>
          <p:spPr>
            <a:xfrm>
              <a:off x="0" y="-76200"/>
              <a:ext cx="1260631" cy="385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C8A9C7E-A346-805C-A2C5-0BB5DA25637D}"/>
              </a:ext>
            </a:extLst>
          </p:cNvPr>
          <p:cNvSpPr txBox="1"/>
          <p:nvPr/>
        </p:nvSpPr>
        <p:spPr>
          <a:xfrm>
            <a:off x="3922895" y="509164"/>
            <a:ext cx="10369965" cy="92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7"/>
              </a:lnSpc>
              <a:spcBef>
                <a:spcPct val="0"/>
              </a:spcBef>
            </a:pPr>
            <a:r>
              <a:rPr lang="en-US" sz="541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PROPOSTA COMERCIAL: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3F036F-7C33-0920-6052-9D39A164647F}"/>
              </a:ext>
            </a:extLst>
          </p:cNvPr>
          <p:cNvSpPr txBox="1"/>
          <p:nvPr/>
        </p:nvSpPr>
        <p:spPr>
          <a:xfrm>
            <a:off x="6331708" y="1567513"/>
            <a:ext cx="5624583" cy="45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  <a:spcBef>
                <a:spcPct val="0"/>
              </a:spcBef>
            </a:pPr>
            <a:r>
              <a:rPr lang="en-US" sz="254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ESCOPO DA PROPOSTA: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A4CFE83-B7FC-C5ED-416C-DB997751A3F7}"/>
              </a:ext>
            </a:extLst>
          </p:cNvPr>
          <p:cNvSpPr txBox="1"/>
          <p:nvPr/>
        </p:nvSpPr>
        <p:spPr>
          <a:xfrm>
            <a:off x="7087512" y="6932792"/>
            <a:ext cx="4513027" cy="43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{{VALOR_VIDA}}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7F12E4D-72E4-DC52-0000-8DC84141308E}"/>
              </a:ext>
            </a:extLst>
          </p:cNvPr>
          <p:cNvSpPr txBox="1"/>
          <p:nvPr/>
        </p:nvSpPr>
        <p:spPr>
          <a:xfrm>
            <a:off x="1828800" y="8850866"/>
            <a:ext cx="15295400" cy="1193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Assessoria permanente em segurança e Medicina do Trabalho enquanto vigorar o contrato*** Os exames complementares (quando necessários) terão seus valores acertados de acordo com a tabela vigente na data de realização. A mensalidade apresentada considera o número de vidas informado nesta proposta. Para cada vida adicional, será acrescido o valor de {{VALOR_VIDA}} mensais.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93BD3C-365F-227E-F108-9E0C4CAF993D}"/>
              </a:ext>
            </a:extLst>
          </p:cNvPr>
          <p:cNvSpPr txBox="1"/>
          <p:nvPr/>
        </p:nvSpPr>
        <p:spPr>
          <a:xfrm>
            <a:off x="5737585" y="1941044"/>
            <a:ext cx="5624583" cy="45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  <a:spcBef>
                <a:spcPct val="0"/>
              </a:spcBef>
            </a:pPr>
            <a:r>
              <a:rPr lang="en-US" sz="254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QTDE. VIDAS: {{VIDAS}}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73C43F5-F79D-8861-F306-4BEC60D653A8}"/>
              </a:ext>
            </a:extLst>
          </p:cNvPr>
          <p:cNvSpPr txBox="1"/>
          <p:nvPr/>
        </p:nvSpPr>
        <p:spPr>
          <a:xfrm>
            <a:off x="4130702" y="6926172"/>
            <a:ext cx="2734389" cy="48648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Valor por vida  ....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9DF19F6-856F-3A4E-B46F-C8C0F592DFCF}"/>
              </a:ext>
            </a:extLst>
          </p:cNvPr>
          <p:cNvSpPr txBox="1"/>
          <p:nvPr/>
        </p:nvSpPr>
        <p:spPr>
          <a:xfrm>
            <a:off x="4128382" y="7448803"/>
            <a:ext cx="2734389" cy="433196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Mensalidade</a:t>
            </a:r>
            <a:r>
              <a:rPr lang="en-US" sz="25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....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1E60408-1969-AF8C-60DE-C592235EAA27}"/>
              </a:ext>
            </a:extLst>
          </p:cNvPr>
          <p:cNvSpPr txBox="1"/>
          <p:nvPr/>
        </p:nvSpPr>
        <p:spPr>
          <a:xfrm>
            <a:off x="6861448" y="7454967"/>
            <a:ext cx="4513027" cy="43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{{MENSALIDADE}}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88A6131-4E62-87CC-3124-907EF61220F8}"/>
              </a:ext>
            </a:extLst>
          </p:cNvPr>
          <p:cNvSpPr txBox="1"/>
          <p:nvPr/>
        </p:nvSpPr>
        <p:spPr>
          <a:xfrm>
            <a:off x="12611173" y="6913741"/>
            <a:ext cx="4513027" cy="4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{{TREINAMENTOS}}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425BD3-F2A6-4797-BEA5-6842664F51E2}"/>
              </a:ext>
            </a:extLst>
          </p:cNvPr>
          <p:cNvSpPr txBox="1"/>
          <p:nvPr/>
        </p:nvSpPr>
        <p:spPr>
          <a:xfrm>
            <a:off x="9819633" y="6904216"/>
            <a:ext cx="2734389" cy="48648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Treinamentos ....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AE1A88B-DCE1-5943-6170-F5F1EA835A76}"/>
              </a:ext>
            </a:extLst>
          </p:cNvPr>
          <p:cNvSpPr txBox="1"/>
          <p:nvPr/>
        </p:nvSpPr>
        <p:spPr>
          <a:xfrm>
            <a:off x="12611173" y="7370948"/>
            <a:ext cx="4513027" cy="4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{{LAUDOS}}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BE3DF73-9DE1-11D1-C8EB-BF72EB4A17AE}"/>
              </a:ext>
            </a:extLst>
          </p:cNvPr>
          <p:cNvSpPr txBox="1"/>
          <p:nvPr/>
        </p:nvSpPr>
        <p:spPr>
          <a:xfrm>
            <a:off x="9776555" y="7374151"/>
            <a:ext cx="2734389" cy="433196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Laudos</a:t>
            </a:r>
            <a:r>
              <a:rPr lang="en-US" sz="25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(Outros)          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CD0864E-E8CD-FC07-0FF5-5BEBDD2E037B}"/>
              </a:ext>
            </a:extLst>
          </p:cNvPr>
          <p:cNvSpPr txBox="1"/>
          <p:nvPr/>
        </p:nvSpPr>
        <p:spPr>
          <a:xfrm>
            <a:off x="9591675" y="7985859"/>
            <a:ext cx="6425599" cy="72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0"/>
              </a:lnSpc>
              <a:spcBef>
                <a:spcPct val="0"/>
              </a:spcBef>
            </a:pPr>
            <a:r>
              <a:rPr lang="en-US" sz="425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{{INVESTIMENTO}}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C501270-6D93-1A36-829C-4103FBFE3B31}"/>
              </a:ext>
            </a:extLst>
          </p:cNvPr>
          <p:cNvSpPr txBox="1"/>
          <p:nvPr/>
        </p:nvSpPr>
        <p:spPr>
          <a:xfrm>
            <a:off x="5485728" y="8021879"/>
            <a:ext cx="3886872" cy="779221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INVESTIMENTO</a:t>
            </a:r>
          </a:p>
        </p:txBody>
      </p:sp>
    </p:spTree>
    <p:extLst>
      <p:ext uri="{BB962C8B-B14F-4D97-AF65-F5344CB8AC3E}">
        <p14:creationId xmlns:p14="http://schemas.microsoft.com/office/powerpoint/2010/main" val="384847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8900">
                <a:alpha val="100000"/>
              </a:srgbClr>
            </a:gs>
            <a:gs pos="100000">
              <a:srgbClr val="0E52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50021" y="-801269"/>
            <a:ext cx="10620731" cy="14170232"/>
          </a:xfrm>
          <a:custGeom>
            <a:avLst/>
            <a:gdLst/>
            <a:ahLst/>
            <a:cxnLst/>
            <a:rect l="l" t="t" r="r" b="b"/>
            <a:pathLst>
              <a:path w="10620731" h="14170232">
                <a:moveTo>
                  <a:pt x="0" y="0"/>
                </a:moveTo>
                <a:lnTo>
                  <a:pt x="10620731" y="0"/>
                </a:lnTo>
                <a:lnTo>
                  <a:pt x="10620731" y="14170232"/>
                </a:lnTo>
                <a:lnTo>
                  <a:pt x="0" y="1417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r="-3342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05142" y="-161596"/>
            <a:ext cx="8484742" cy="10588937"/>
            <a:chOff x="0" y="0"/>
            <a:chExt cx="2234665" cy="27888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34665" cy="2788856"/>
            </a:xfrm>
            <a:custGeom>
              <a:avLst/>
              <a:gdLst/>
              <a:ahLst/>
              <a:cxnLst/>
              <a:rect l="l" t="t" r="r" b="b"/>
              <a:pathLst>
                <a:path w="2234665" h="2788856">
                  <a:moveTo>
                    <a:pt x="0" y="0"/>
                  </a:moveTo>
                  <a:lnTo>
                    <a:pt x="2234665" y="0"/>
                  </a:lnTo>
                  <a:lnTo>
                    <a:pt x="2234665" y="2788856"/>
                  </a:lnTo>
                  <a:lnTo>
                    <a:pt x="0" y="27888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34665" cy="285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7704" y="5349115"/>
            <a:ext cx="6351435" cy="1307438"/>
            <a:chOff x="0" y="0"/>
            <a:chExt cx="8468580" cy="1743250"/>
          </a:xfrm>
        </p:grpSpPr>
        <p:sp>
          <p:nvSpPr>
            <p:cNvPr id="7" name="Freeform 7"/>
            <p:cNvSpPr/>
            <p:nvPr/>
          </p:nvSpPr>
          <p:spPr>
            <a:xfrm>
              <a:off x="501355" y="1366538"/>
              <a:ext cx="197699" cy="195504"/>
            </a:xfrm>
            <a:custGeom>
              <a:avLst/>
              <a:gdLst/>
              <a:ahLst/>
              <a:cxnLst/>
              <a:rect l="l" t="t" r="r" b="b"/>
              <a:pathLst>
                <a:path w="197699" h="195504">
                  <a:moveTo>
                    <a:pt x="0" y="0"/>
                  </a:moveTo>
                  <a:lnTo>
                    <a:pt x="197699" y="0"/>
                  </a:lnTo>
                  <a:lnTo>
                    <a:pt x="197699" y="195504"/>
                  </a:lnTo>
                  <a:lnTo>
                    <a:pt x="0" y="19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26258" y="1345671"/>
              <a:ext cx="747388" cy="237496"/>
            </a:xfrm>
            <a:custGeom>
              <a:avLst/>
              <a:gdLst/>
              <a:ahLst/>
              <a:cxnLst/>
              <a:rect l="l" t="t" r="r" b="b"/>
              <a:pathLst>
                <a:path w="747388" h="237496">
                  <a:moveTo>
                    <a:pt x="0" y="0"/>
                  </a:moveTo>
                  <a:lnTo>
                    <a:pt x="747388" y="0"/>
                  </a:lnTo>
                  <a:lnTo>
                    <a:pt x="747388" y="237497"/>
                  </a:lnTo>
                  <a:lnTo>
                    <a:pt x="0" y="237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84099" y="1349801"/>
              <a:ext cx="426683" cy="229239"/>
            </a:xfrm>
            <a:custGeom>
              <a:avLst/>
              <a:gdLst/>
              <a:ahLst/>
              <a:cxnLst/>
              <a:rect l="l" t="t" r="r" b="b"/>
              <a:pathLst>
                <a:path w="426683" h="229239">
                  <a:moveTo>
                    <a:pt x="0" y="0"/>
                  </a:moveTo>
                  <a:lnTo>
                    <a:pt x="426683" y="0"/>
                  </a:lnTo>
                  <a:lnTo>
                    <a:pt x="426683" y="229239"/>
                  </a:lnTo>
                  <a:lnTo>
                    <a:pt x="0" y="229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988502" y="1366538"/>
              <a:ext cx="136195" cy="195504"/>
            </a:xfrm>
            <a:custGeom>
              <a:avLst/>
              <a:gdLst/>
              <a:ahLst/>
              <a:cxnLst/>
              <a:rect l="l" t="t" r="r" b="b"/>
              <a:pathLst>
                <a:path w="136195" h="195504">
                  <a:moveTo>
                    <a:pt x="0" y="0"/>
                  </a:moveTo>
                  <a:lnTo>
                    <a:pt x="136195" y="0"/>
                  </a:lnTo>
                  <a:lnTo>
                    <a:pt x="136195" y="195504"/>
                  </a:lnTo>
                  <a:lnTo>
                    <a:pt x="0" y="19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196372" y="1344544"/>
              <a:ext cx="775406" cy="238940"/>
            </a:xfrm>
            <a:custGeom>
              <a:avLst/>
              <a:gdLst/>
              <a:ahLst/>
              <a:cxnLst/>
              <a:rect l="l" t="t" r="r" b="b"/>
              <a:pathLst>
                <a:path w="775406" h="238940">
                  <a:moveTo>
                    <a:pt x="0" y="0"/>
                  </a:moveTo>
                  <a:lnTo>
                    <a:pt x="775405" y="0"/>
                  </a:lnTo>
                  <a:lnTo>
                    <a:pt x="775405" y="238940"/>
                  </a:lnTo>
                  <a:lnTo>
                    <a:pt x="0" y="238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980035" y="1345679"/>
              <a:ext cx="1026375" cy="292148"/>
            </a:xfrm>
            <a:custGeom>
              <a:avLst/>
              <a:gdLst/>
              <a:ahLst/>
              <a:cxnLst/>
              <a:rect l="l" t="t" r="r" b="b"/>
              <a:pathLst>
                <a:path w="1026375" h="292148">
                  <a:moveTo>
                    <a:pt x="0" y="0"/>
                  </a:moveTo>
                  <a:lnTo>
                    <a:pt x="1026375" y="0"/>
                  </a:lnTo>
                  <a:lnTo>
                    <a:pt x="1026375" y="292147"/>
                  </a:lnTo>
                  <a:lnTo>
                    <a:pt x="0" y="292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067406" y="1345533"/>
              <a:ext cx="442157" cy="238212"/>
            </a:xfrm>
            <a:custGeom>
              <a:avLst/>
              <a:gdLst/>
              <a:ahLst/>
              <a:cxnLst/>
              <a:rect l="l" t="t" r="r" b="b"/>
              <a:pathLst>
                <a:path w="442157" h="238212">
                  <a:moveTo>
                    <a:pt x="0" y="0"/>
                  </a:moveTo>
                  <a:lnTo>
                    <a:pt x="442157" y="0"/>
                  </a:lnTo>
                  <a:lnTo>
                    <a:pt x="442157" y="238212"/>
                  </a:lnTo>
                  <a:lnTo>
                    <a:pt x="0" y="23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4559444" y="1345382"/>
              <a:ext cx="1549197" cy="237785"/>
            </a:xfrm>
            <a:custGeom>
              <a:avLst/>
              <a:gdLst/>
              <a:ahLst/>
              <a:cxnLst/>
              <a:rect l="l" t="t" r="r" b="b"/>
              <a:pathLst>
                <a:path w="1549197" h="237785">
                  <a:moveTo>
                    <a:pt x="0" y="0"/>
                  </a:moveTo>
                  <a:lnTo>
                    <a:pt x="1549197" y="0"/>
                  </a:lnTo>
                  <a:lnTo>
                    <a:pt x="1549197" y="237786"/>
                  </a:lnTo>
                  <a:lnTo>
                    <a:pt x="0" y="237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7602266" cy="1269189"/>
            </a:xfrm>
            <a:custGeom>
              <a:avLst/>
              <a:gdLst/>
              <a:ahLst/>
              <a:cxnLst/>
              <a:rect l="l" t="t" r="r" b="b"/>
              <a:pathLst>
                <a:path w="7602266" h="1269189">
                  <a:moveTo>
                    <a:pt x="0" y="0"/>
                  </a:moveTo>
                  <a:lnTo>
                    <a:pt x="7602266" y="0"/>
                  </a:lnTo>
                  <a:lnTo>
                    <a:pt x="7602266" y="1269189"/>
                  </a:lnTo>
                  <a:lnTo>
                    <a:pt x="0" y="1269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6145549" y="574069"/>
              <a:ext cx="2323031" cy="1169181"/>
            </a:xfrm>
            <a:custGeom>
              <a:avLst/>
              <a:gdLst/>
              <a:ahLst/>
              <a:cxnLst/>
              <a:rect l="l" t="t" r="r" b="b"/>
              <a:pathLst>
                <a:path w="2323031" h="1169181">
                  <a:moveTo>
                    <a:pt x="0" y="0"/>
                  </a:moveTo>
                  <a:lnTo>
                    <a:pt x="2323031" y="0"/>
                  </a:lnTo>
                  <a:lnTo>
                    <a:pt x="2323031" y="1169181"/>
                  </a:lnTo>
                  <a:lnTo>
                    <a:pt x="0" y="116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28187" y="7561428"/>
            <a:ext cx="6750471" cy="87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inteligente para empresas que querem ir além.</a:t>
            </a:r>
          </a:p>
        </p:txBody>
      </p:sp>
      <p:sp>
        <p:nvSpPr>
          <p:cNvPr id="18" name="Freeform 18"/>
          <p:cNvSpPr/>
          <p:nvPr/>
        </p:nvSpPr>
        <p:spPr>
          <a:xfrm rot="2004292">
            <a:off x="-8008983" y="6201120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00781" y="6155738"/>
            <a:ext cx="662999" cy="662999"/>
          </a:xfrm>
          <a:custGeom>
            <a:avLst/>
            <a:gdLst/>
            <a:ahLst/>
            <a:cxnLst/>
            <a:rect l="l" t="t" r="r" b="b"/>
            <a:pathLst>
              <a:path w="662999" h="662999">
                <a:moveTo>
                  <a:pt x="0" y="0"/>
                </a:moveTo>
                <a:lnTo>
                  <a:pt x="662999" y="0"/>
                </a:lnTo>
                <a:lnTo>
                  <a:pt x="662999" y="662999"/>
                </a:lnTo>
                <a:lnTo>
                  <a:pt x="0" y="66299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868184" y="6214206"/>
            <a:ext cx="6750471" cy="50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26" tooltip="https://www.instagram.com/controllermedsegcomercial/"/>
              </a:rPr>
              <a:t>@controllermedsegcomercial</a:t>
            </a:r>
          </a:p>
        </p:txBody>
      </p:sp>
      <p:sp>
        <p:nvSpPr>
          <p:cNvPr id="21" name="Freeform 21"/>
          <p:cNvSpPr/>
          <p:nvPr/>
        </p:nvSpPr>
        <p:spPr>
          <a:xfrm>
            <a:off x="9029356" y="3468263"/>
            <a:ext cx="518346" cy="592396"/>
          </a:xfrm>
          <a:custGeom>
            <a:avLst/>
            <a:gdLst/>
            <a:ahLst/>
            <a:cxnLst/>
            <a:rect l="l" t="t" r="r" b="b"/>
            <a:pathLst>
              <a:path w="518346" h="592396">
                <a:moveTo>
                  <a:pt x="0" y="0"/>
                </a:moveTo>
                <a:lnTo>
                  <a:pt x="518346" y="0"/>
                </a:lnTo>
                <a:lnTo>
                  <a:pt x="518346" y="592396"/>
                </a:lnTo>
                <a:lnTo>
                  <a:pt x="0" y="5923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962681" y="4371235"/>
            <a:ext cx="639839" cy="639839"/>
          </a:xfrm>
          <a:custGeom>
            <a:avLst/>
            <a:gdLst/>
            <a:ahLst/>
            <a:cxnLst/>
            <a:rect l="l" t="t" r="r" b="b"/>
            <a:pathLst>
              <a:path w="639839" h="639839">
                <a:moveTo>
                  <a:pt x="0" y="0"/>
                </a:moveTo>
                <a:lnTo>
                  <a:pt x="639839" y="0"/>
                </a:lnTo>
                <a:lnTo>
                  <a:pt x="639839" y="639839"/>
                </a:lnTo>
                <a:lnTo>
                  <a:pt x="0" y="63983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029356" y="5296824"/>
            <a:ext cx="573164" cy="573164"/>
          </a:xfrm>
          <a:custGeom>
            <a:avLst/>
            <a:gdLst/>
            <a:ahLst/>
            <a:cxnLst/>
            <a:rect l="l" t="t" r="r" b="b"/>
            <a:pathLst>
              <a:path w="573164" h="573164">
                <a:moveTo>
                  <a:pt x="0" y="0"/>
                </a:moveTo>
                <a:lnTo>
                  <a:pt x="573164" y="0"/>
                </a:lnTo>
                <a:lnTo>
                  <a:pt x="573164" y="573164"/>
                </a:lnTo>
                <a:lnTo>
                  <a:pt x="0" y="57316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778757" y="3548579"/>
            <a:ext cx="4316622" cy="44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Executivo de Vendas: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15621" y="3501297"/>
            <a:ext cx="3115952" cy="516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{{EXECUTIVO_NOME}}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72829" y="4437173"/>
            <a:ext cx="1840682" cy="44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E-mail: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49530" y="4437173"/>
            <a:ext cx="6616656" cy="4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{{EXECUTIVO_EMAIL}}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8757" y="5326136"/>
            <a:ext cx="1840682" cy="44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Telefone: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00201" y="5285628"/>
            <a:ext cx="4234101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{{EXECUTIVO_TELEFONE}}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8669" y="3066994"/>
            <a:ext cx="6750471" cy="130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sz="3598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{{CLIENTE}}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-673829" y="1257300"/>
            <a:ext cx="9754502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{{CIDADE}}, {{DATA_EXTENSO}}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-92269" y="1718103"/>
            <a:ext cx="8591382" cy="49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sz="27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Proposta válida até {{VALIDADE}}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8900">
                <a:alpha val="100000"/>
              </a:srgbClr>
            </a:gs>
            <a:gs pos="100000">
              <a:srgbClr val="0E52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DA10998B-1846-ADE5-7920-48F212FC3142}"/>
              </a:ext>
            </a:extLst>
          </p:cNvPr>
          <p:cNvSpPr/>
          <p:nvPr/>
        </p:nvSpPr>
        <p:spPr>
          <a:xfrm>
            <a:off x="-7859024" y="6284093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49" y="0"/>
                </a:lnTo>
                <a:lnTo>
                  <a:pt x="18311349" y="3021372"/>
                </a:lnTo>
                <a:lnTo>
                  <a:pt x="0" y="302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CD889D-9DF2-F83E-D598-3D23542AAA57}"/>
              </a:ext>
            </a:extLst>
          </p:cNvPr>
          <p:cNvSpPr/>
          <p:nvPr/>
        </p:nvSpPr>
        <p:spPr>
          <a:xfrm rot="2004292">
            <a:off x="-8126975" y="5991570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0" y="0"/>
                </a:moveTo>
                <a:lnTo>
                  <a:pt x="18311350" y="0"/>
                </a:lnTo>
                <a:lnTo>
                  <a:pt x="18311350" y="3021373"/>
                </a:lnTo>
                <a:lnTo>
                  <a:pt x="0" y="3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B55387-CC52-309B-55A9-0FBDE6E25B66}"/>
              </a:ext>
            </a:extLst>
          </p:cNvPr>
          <p:cNvSpPr/>
          <p:nvPr/>
        </p:nvSpPr>
        <p:spPr>
          <a:xfrm rot="-1353632" flipH="1">
            <a:off x="6480726" y="3423264"/>
            <a:ext cx="18311349" cy="3021373"/>
          </a:xfrm>
          <a:custGeom>
            <a:avLst/>
            <a:gdLst/>
            <a:ahLst/>
            <a:cxnLst/>
            <a:rect l="l" t="t" r="r" b="b"/>
            <a:pathLst>
              <a:path w="18311349" h="3021373">
                <a:moveTo>
                  <a:pt x="18311349" y="0"/>
                </a:moveTo>
                <a:lnTo>
                  <a:pt x="0" y="0"/>
                </a:lnTo>
                <a:lnTo>
                  <a:pt x="0" y="3021372"/>
                </a:lnTo>
                <a:lnTo>
                  <a:pt x="18311349" y="3021372"/>
                </a:lnTo>
                <a:lnTo>
                  <a:pt x="1831134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ECC8FF-E823-933B-7E25-7884FE20127F}"/>
              </a:ext>
            </a:extLst>
          </p:cNvPr>
          <p:cNvGrpSpPr/>
          <p:nvPr/>
        </p:nvGrpSpPr>
        <p:grpSpPr>
          <a:xfrm>
            <a:off x="2963063" y="1484440"/>
            <a:ext cx="12476174" cy="7271176"/>
            <a:chOff x="0" y="0"/>
            <a:chExt cx="3285906" cy="187427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E09C03-1511-A12A-35DB-2747AD6380CD}"/>
                </a:ext>
              </a:extLst>
            </p:cNvPr>
            <p:cNvSpPr/>
            <p:nvPr/>
          </p:nvSpPr>
          <p:spPr>
            <a:xfrm>
              <a:off x="0" y="0"/>
              <a:ext cx="3285906" cy="1874272"/>
            </a:xfrm>
            <a:custGeom>
              <a:avLst/>
              <a:gdLst/>
              <a:ahLst/>
              <a:cxnLst/>
              <a:rect l="l" t="t" r="r" b="b"/>
              <a:pathLst>
                <a:path w="3285906" h="1874272">
                  <a:moveTo>
                    <a:pt x="31647" y="0"/>
                  </a:moveTo>
                  <a:lnTo>
                    <a:pt x="3254259" y="0"/>
                  </a:lnTo>
                  <a:cubicBezTo>
                    <a:pt x="3262652" y="0"/>
                    <a:pt x="3270702" y="3334"/>
                    <a:pt x="3276637" y="9269"/>
                  </a:cubicBezTo>
                  <a:cubicBezTo>
                    <a:pt x="3282572" y="15204"/>
                    <a:pt x="3285906" y="23254"/>
                    <a:pt x="3285906" y="31647"/>
                  </a:cubicBezTo>
                  <a:lnTo>
                    <a:pt x="3285906" y="1842625"/>
                  </a:lnTo>
                  <a:cubicBezTo>
                    <a:pt x="3285906" y="1860103"/>
                    <a:pt x="3271737" y="1874272"/>
                    <a:pt x="3254259" y="1874272"/>
                  </a:cubicBezTo>
                  <a:lnTo>
                    <a:pt x="31647" y="1874272"/>
                  </a:lnTo>
                  <a:cubicBezTo>
                    <a:pt x="23254" y="1874272"/>
                    <a:pt x="15204" y="1870938"/>
                    <a:pt x="9269" y="1865003"/>
                  </a:cubicBezTo>
                  <a:cubicBezTo>
                    <a:pt x="3334" y="1859068"/>
                    <a:pt x="0" y="1851018"/>
                    <a:pt x="0" y="1842625"/>
                  </a:cubicBezTo>
                  <a:lnTo>
                    <a:pt x="0" y="31647"/>
                  </a:lnTo>
                  <a:cubicBezTo>
                    <a:pt x="0" y="23254"/>
                    <a:pt x="3334" y="15204"/>
                    <a:pt x="9269" y="9269"/>
                  </a:cubicBezTo>
                  <a:cubicBezTo>
                    <a:pt x="15204" y="3334"/>
                    <a:pt x="23254" y="0"/>
                    <a:pt x="31647" y="0"/>
                  </a:cubicBezTo>
                  <a:close/>
                </a:path>
              </a:pathLst>
            </a:custGeom>
            <a:solidFill>
              <a:srgbClr val="E5E2D9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57098E-D571-242E-2595-7B639B214A41}"/>
                </a:ext>
              </a:extLst>
            </p:cNvPr>
            <p:cNvSpPr txBox="1"/>
            <p:nvPr/>
          </p:nvSpPr>
          <p:spPr>
            <a:xfrm>
              <a:off x="0" y="-76200"/>
              <a:ext cx="3285906" cy="1950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hipo-modalidade:tabela">
            <a:extLst>
              <a:ext uri="{FF2B5EF4-FFF2-40B4-BE49-F238E27FC236}">
                <a16:creationId xmlns:a16="http://schemas.microsoft.com/office/drawing/2014/main" id="{35475D04-7003-092A-848E-0AD45E89605D}"/>
              </a:ext>
            </a:extLst>
          </p:cNvPr>
          <p:cNvSpPr txBox="1"/>
          <p:nvPr/>
        </p:nvSpPr>
        <p:spPr>
          <a:xfrm>
            <a:off x="3505200" y="2400300"/>
            <a:ext cx="11223916" cy="6408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{{ESCOPO_ITEM}}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8A9C7E-A346-805C-A2C5-0BB5DA25637D}"/>
              </a:ext>
            </a:extLst>
          </p:cNvPr>
          <p:cNvSpPr txBox="1"/>
          <p:nvPr/>
        </p:nvSpPr>
        <p:spPr>
          <a:xfrm>
            <a:off x="3922895" y="509164"/>
            <a:ext cx="10369965" cy="92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7"/>
              </a:lnSpc>
              <a:spcBef>
                <a:spcPct val="0"/>
              </a:spcBef>
            </a:pPr>
            <a:r>
              <a:rPr lang="en-US" sz="541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PROPOSTA COMERCIAL: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3F036F-7C33-0920-6052-9D39A164647F}"/>
              </a:ext>
            </a:extLst>
          </p:cNvPr>
          <p:cNvSpPr txBox="1"/>
          <p:nvPr/>
        </p:nvSpPr>
        <p:spPr>
          <a:xfrm>
            <a:off x="6331708" y="1567513"/>
            <a:ext cx="5624583" cy="45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  <a:spcBef>
                <a:spcPct val="0"/>
              </a:spcBef>
            </a:pPr>
            <a:r>
              <a:rPr lang="en-US" sz="254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ESCOPO DA PROPOSTA: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93BD3C-365F-227E-F108-9E0C4CAF993D}"/>
              </a:ext>
            </a:extLst>
          </p:cNvPr>
          <p:cNvSpPr txBox="1"/>
          <p:nvPr/>
        </p:nvSpPr>
        <p:spPr>
          <a:xfrm>
            <a:off x="5737585" y="1941044"/>
            <a:ext cx="5624583" cy="42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  <a:spcBef>
                <a:spcPct val="0"/>
              </a:spcBef>
            </a:pPr>
            <a:r>
              <a:rPr lang="en-US" sz="254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QTDE. VIDAS: {{VIDAS}}</a:t>
            </a:r>
          </a:p>
        </p:txBody>
      </p:sp>
      <p:sp>
        <p:nvSpPr>
          <p:cNvPr id="25" name="hipo-mensalidade">
            <a:extLst>
              <a:ext uri="{FF2B5EF4-FFF2-40B4-BE49-F238E27FC236}">
                <a16:creationId xmlns:a16="http://schemas.microsoft.com/office/drawing/2014/main" id="{6C501270-6D93-1A36-829C-4103FBFE3B31}"/>
              </a:ext>
            </a:extLst>
          </p:cNvPr>
          <p:cNvSpPr txBox="1"/>
          <p:nvPr/>
        </p:nvSpPr>
        <p:spPr>
          <a:xfrm>
            <a:off x="3505200" y="8021879"/>
            <a:ext cx="11223916" cy="707951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 err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{{ROTULO_MENSALIDADE}} </a:t>
            </a:r>
            <a:endParaRPr lang="en-US" sz="4199" b="1" dirty="0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  <a:r>
              <a:rPr lang="en-US" sz="425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{{MENSALIDADE}}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F7F12E4D-72E4-DC52-0000-8DC84141308E}"/>
              </a:ext>
            </a:extLst>
          </p:cNvPr>
          <p:cNvSpPr txBox="1"/>
          <p:nvPr/>
        </p:nvSpPr>
        <p:spPr>
          <a:xfrm>
            <a:off x="1828800" y="8850866"/>
            <a:ext cx="15295400" cy="1193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Assessoria permanente em segurança e Medicina do Trabalho enquanto vigorar o contrato*** Os exames complementares (quando necessários) terão seus valores acertados de acordo com a tabela vigente na data de realização. A mensalidade apresentada considera o número de vidas informado nesta proposta. Para cada vida adicional, será acrescido o valor de {{VALOR_EXCEDENTE}} mensais.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486</Words>
  <Application>Microsoft Office PowerPoint</Application>
  <PresentationFormat>Personalizar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Codec Pro</vt:lpstr>
      <vt:lpstr>Arial</vt:lpstr>
      <vt:lpstr>Calibri</vt:lpstr>
      <vt:lpstr>Anton</vt:lpstr>
      <vt:lpstr>Codec Pro Bold</vt:lpstr>
      <vt:lpstr>Poppins</vt:lpstr>
      <vt:lpstr>Poppins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(modelo) Proposta Comercial - SOLAR DOS PAMPAS COMERCIO ALIMENTICIO LTDA</dc:title>
  <dc:creator>Wellington Souza</dc:creator>
  <cp:lastModifiedBy>bruno augusto</cp:lastModifiedBy>
  <cp:revision>6</cp:revision>
  <dcterms:created xsi:type="dcterms:W3CDTF">2006-08-16T00:00:00Z</dcterms:created>
  <dcterms:modified xsi:type="dcterms:W3CDTF">2026-08-31T14:38:02Z</dcterms:modified>
  <dc:identifier>DAHRn-Tliuw</dc:identifier>
</cp:coreProperties>
</file>